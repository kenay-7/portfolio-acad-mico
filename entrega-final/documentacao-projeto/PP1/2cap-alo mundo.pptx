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5"/>
  </p:notesMasterIdLst>
  <p:sldIdLst>
    <p:sldId id="256" r:id="rId3"/>
    <p:sldId id="171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171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1717" r:id="rId24"/>
  </p:sldIdLst>
  <p:sldSz cx="9144000" cy="6858000" type="screen4x3"/>
  <p:notesSz cx="9144000" cy="6858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2">
          <p15:clr>
            <a:srgbClr val="A4A3A4"/>
          </p15:clr>
        </p15:guide>
        <p15:guide id="2" pos="289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Nenhum Estilo, Grade de Tabela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solidFill>
                <a:schemeClr val="tx1"/>
              </a:solidFill>
            </a:ln>
          </a:left>
          <a:right>
            <a:ln w="12700">
              <a:solidFill>
                <a:schemeClr val="tx1"/>
              </a:solidFill>
            </a:ln>
          </a:right>
          <a:top>
            <a:ln w="12700">
              <a:solidFill>
                <a:schemeClr val="tx1"/>
              </a:solidFill>
            </a:ln>
          </a:top>
          <a:bottom>
            <a:ln w="12700">
              <a:solidFill>
                <a:schemeClr val="tx1"/>
              </a:solidFill>
            </a:ln>
          </a:bottom>
          <a:insideH>
            <a:ln w="12700">
              <a:solidFill>
                <a:schemeClr val="tx1"/>
              </a:solidFill>
            </a:ln>
          </a:insideH>
          <a:insideV>
            <a:ln w="12700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0" autoAdjust="0"/>
    <p:restoredTop sz="94660"/>
  </p:normalViewPr>
  <p:slideViewPr>
    <p:cSldViewPr>
      <p:cViewPr varScale="1">
        <p:scale>
          <a:sx n="80" d="100"/>
          <a:sy n="80" d="100"/>
        </p:scale>
        <p:origin x="904" y="40"/>
      </p:cViewPr>
      <p:guideLst>
        <p:guide orient="horz" pos="2242"/>
        <p:guide pos="28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2794D0-92EC-4BBC-A4CA-337FF64A3551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00F943-AA99-4DC5-818C-43C6896D25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0412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 userDrawn="1">
  <p:cSld name="Slide d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685800" y="1346947"/>
            <a:ext cx="7772400" cy="80683"/>
          </a:xfrm>
          <a:prstGeom prst="rect">
            <a:avLst/>
          </a:prstGeom>
          <a:blipFill>
            <a:blip r:embed="rId2">
              <a:alphaModFix amt="80000"/>
              <a:lum bright="70000" contrast="-70000"/>
            </a:blip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 bwMode="auto">
          <a:xfrm>
            <a:off x="685800" y="4282763"/>
            <a:ext cx="7772400" cy="80683"/>
          </a:xfrm>
          <a:prstGeom prst="rect">
            <a:avLst/>
          </a:prstGeom>
          <a:blipFill>
            <a:blip r:embed="rId2">
              <a:alphaModFix amt="80000"/>
              <a:lum bright="70000" contrast="-70000"/>
            </a:blip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 bwMode="auto">
          <a:xfrm>
            <a:off x="685800" y="1484779"/>
            <a:ext cx="7772400" cy="2743200"/>
          </a:xfrm>
          <a:prstGeom prst="rect">
            <a:avLst/>
          </a:prstGeom>
          <a:blipFill>
            <a:blip r:embed="rId2">
              <a:alphaModFix amt="80000"/>
              <a:lum bright="70000" contrast="-70000"/>
            </a:blip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 bwMode="auto"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 bwMode="auto">
            <a:xfrm>
              <a:off x="9685338" y="4460675"/>
              <a:ext cx="1080904" cy="1080902"/>
            </a:xfrm>
            <a:prstGeom prst="ellipse">
              <a:avLst/>
            </a:prstGeom>
            <a:blipFill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 bwMode="auto"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>
                <a:blipFill>
                  <a:blip r:embed="rId3"/>
                  <a:tile tx="6350" ty="-127000" sx="65000" sy="64000" flip="none" algn="tl"/>
                </a:blipFill>
              </a:defRPr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>
              <a:defRPr/>
            </a:pPr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700DB3-DBF0-4086-B675-117E7A9610B8}" type="datetimeFigureOut">
              <a:rPr lang="pt-BR"/>
              <a:t>25/02/2026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812805" y="6272785"/>
            <a:ext cx="4745736" cy="365125"/>
          </a:xfrm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pPr>
              <a:defRPr/>
            </a:pPr>
            <a:fld id="{2119D8CF-8DEC-4D9F-84EE-ADF04DFF3391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" preserve="1" userDrawn="1">
  <p:cSld name="Título e Conteúd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85800" y="260648"/>
            <a:ext cx="7772400" cy="856136"/>
          </a:xfrm>
        </p:spPr>
        <p:txBody>
          <a:bodyPr>
            <a:normAutofit/>
          </a:bodyPr>
          <a:lstStyle>
            <a:lvl1pPr algn="ctr">
              <a:defRPr sz="2800" b="0" cap="none"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pt-BR"/>
              <a:t>Editar estilos de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700DB3-DBF0-4086-B675-117E7A9610B8}" type="datetimeFigureOut">
              <a:rPr lang="pt-BR"/>
              <a:t>25/02/2026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119D8CF-8DEC-4D9F-84EE-ADF04DFF3391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secHead" preserve="1" userDrawn="1">
  <p:cSld name="Cabeçalho da Seç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0" y="4917989"/>
            <a:ext cx="9144000" cy="1940010"/>
          </a:xfrm>
          <a:prstGeom prst="rect">
            <a:avLst/>
          </a:prstGeom>
          <a:blipFill>
            <a:blip r:embed="rId2">
              <a:alphaModFix amt="80000"/>
              <a:lum bright="70000" contrast="-70000"/>
            </a:blip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pt-BR"/>
              <a:t>Editar estilos de texto Mestre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2E700DB3-DBF0-4086-B675-117E7A9610B8}" type="datetimeFigureOut">
              <a:rPr lang="pt-BR"/>
              <a:t>25/02/2026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 bwMode="auto"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 bwMode="auto">
            <a:xfrm>
              <a:off x="9685338" y="4460675"/>
              <a:ext cx="1080904" cy="1080902"/>
            </a:xfrm>
            <a:prstGeom prst="ellipse">
              <a:avLst/>
            </a:prstGeom>
            <a:blipFill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 bwMode="auto"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45450" y="2508607"/>
            <a:ext cx="891224" cy="720331"/>
          </a:xfr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fld id="{2119D8CF-8DEC-4D9F-84EE-ADF04DFF3391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woObj" preserve="1" userDrawn="1">
  <p:cSld name="Duas Partes de Conteúd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pt-BR"/>
              <a:t>Editar estilos de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pt-BR"/>
              <a:t>Editar estilos de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700DB3-DBF0-4086-B675-117E7A9610B8}" type="datetimeFigureOut">
              <a:rPr lang="pt-BR"/>
              <a:t>25/02/2026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119D8CF-8DEC-4D9F-84EE-ADF04DFF3391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woTxTwoObj" preserve="1" userDrawn="1">
  <p:cSld name="Comparaç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pt-BR"/>
              <a:t>Editar estilos de texto Mestre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pt-BR"/>
              <a:t>Editar estilos de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pt-BR"/>
              <a:t>Editar estilos de texto Mestre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pt-BR"/>
              <a:t>Editar estilos de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700DB3-DBF0-4086-B675-117E7A9610B8}" type="datetimeFigureOut">
              <a:rPr lang="pt-BR"/>
              <a:t>25/02/2026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119D8CF-8DEC-4D9F-84EE-ADF04DFF3391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Only" preserve="1" userDrawn="1">
  <p:cSld name="Soment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2E700DB3-DBF0-4086-B675-117E7A9610B8}" type="datetimeFigureOut">
              <a:rPr lang="pt-BR"/>
              <a:t>25/02/2026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119D8CF-8DEC-4D9F-84EE-ADF04DFF3391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blank" preserve="1" userDrawn="1">
  <p:cSld name="Em branc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700DB3-DBF0-4086-B675-117E7A9610B8}" type="datetimeFigureOut">
              <a:rPr lang="pt-BR"/>
              <a:t>25/02/2026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119D8CF-8DEC-4D9F-84EE-ADF04DFF3391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Tx" preserve="1" userDrawn="1">
  <p:cSld name="Conteúdo com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auto">
          <a:xfrm>
            <a:off x="6227806" y="1"/>
            <a:ext cx="2916194" cy="6857999"/>
          </a:xfrm>
          <a:prstGeom prst="rect">
            <a:avLst/>
          </a:prstGeom>
          <a:blipFill>
            <a:blip r:embed="rId2">
              <a:alphaModFix amt="60000"/>
              <a:lum bright="70000" contrast="-70000"/>
            </a:blip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pt-BR"/>
              <a:t>Editar estilos de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pt-BR"/>
              <a:t>Editar estilos de texto Mestre</a:t>
            </a:r>
            <a:endParaRPr/>
          </a:p>
        </p:txBody>
      </p:sp>
      <p:grpSp>
        <p:nvGrpSpPr>
          <p:cNvPr id="12" name="Group 11"/>
          <p:cNvGrpSpPr/>
          <p:nvPr/>
        </p:nvGrpSpPr>
        <p:grpSpPr bwMode="auto"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 bwMode="auto">
            <a:xfrm>
              <a:off x="8532189" y="5068824"/>
              <a:ext cx="393192" cy="393192"/>
            </a:xfrm>
            <a:prstGeom prst="ellipse">
              <a:avLst/>
            </a:prstGeom>
            <a:blipFill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 bwMode="auto"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700DB3-DBF0-4086-B675-117E7A9610B8}" type="datetimeFigureOut">
              <a:rPr lang="pt-BR"/>
              <a:t>25/02/2026</a:t>
            </a:fld>
            <a:endParaRPr lang="pt-B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119D8CF-8DEC-4D9F-84EE-ADF04DFF3391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picTx" preserve="1" userDrawn="1">
  <p:cSld name="Imagem com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auto">
          <a:xfrm>
            <a:off x="6227806" y="1"/>
            <a:ext cx="2916194" cy="6857999"/>
          </a:xfrm>
          <a:prstGeom prst="rect">
            <a:avLst/>
          </a:prstGeom>
          <a:blipFill>
            <a:blip r:embed="rId2">
              <a:alphaModFix amt="60000"/>
              <a:lum bright="70000" contrast="-70000"/>
            </a:blip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0" y="0"/>
            <a:ext cx="6227805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pt-BR"/>
              <a:t>Editar estilos de texto Mestre</a:t>
            </a:r>
            <a:endParaRPr/>
          </a:p>
        </p:txBody>
      </p:sp>
      <p:grpSp>
        <p:nvGrpSpPr>
          <p:cNvPr id="12" name="Group 11"/>
          <p:cNvGrpSpPr/>
          <p:nvPr/>
        </p:nvGrpSpPr>
        <p:grpSpPr bwMode="auto"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 bwMode="auto">
            <a:xfrm>
              <a:off x="8532189" y="5068824"/>
              <a:ext cx="393192" cy="393192"/>
            </a:xfrm>
            <a:prstGeom prst="ellipse">
              <a:avLst/>
            </a:prstGeom>
            <a:blipFill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 bwMode="auto"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700DB3-DBF0-4086-B675-117E7A9610B8}" type="datetimeFigureOut">
              <a:rPr lang="pt-BR"/>
              <a:t>25/02/2026</a:t>
            </a:fld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119D8CF-8DEC-4D9F-84EE-ADF04DFF3391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vertTx" preserve="1" userDrawn="1">
  <p:cSld name="Título e Texto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pt-BR"/>
              <a:t>Editar estilos de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700DB3-DBF0-4086-B675-117E7A9610B8}" type="datetimeFigureOut">
              <a:rPr lang="pt-BR"/>
              <a:t>25/02/2026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119D8CF-8DEC-4D9F-84EE-ADF04DFF3391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vertTitleAndTx" preserve="1" userDrawn="1">
  <p:cSld name="Texto e Título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00100" y="533400"/>
            <a:ext cx="5629275" cy="5638800"/>
          </a:xfrm>
        </p:spPr>
        <p:txBody>
          <a:bodyPr vert="eaVert"/>
          <a:lstStyle/>
          <a:p>
            <a:pPr lvl="0">
              <a:defRPr/>
            </a:pPr>
            <a:r>
              <a:rPr lang="pt-BR"/>
              <a:t>Editar estilos de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700DB3-DBF0-4086-B675-117E7A9610B8}" type="datetimeFigureOut">
              <a:rPr lang="pt-BR"/>
              <a:t>25/02/2026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119D8CF-8DEC-4D9F-84EE-ADF04DFF3391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42984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260648"/>
            <a:ext cx="7772400" cy="640112"/>
          </a:xfrm>
        </p:spPr>
        <p:txBody>
          <a:bodyPr>
            <a:normAutofit/>
          </a:bodyPr>
          <a:lstStyle>
            <a:lvl1pPr algn="ctr">
              <a:defRPr sz="2800" cap="none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40768"/>
            <a:ext cx="7772400" cy="483143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32346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pt-BR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802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40203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2538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62812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53114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05013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14488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50936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253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 bwMode="auto"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 bwMode="auto">
            <a:xfrm>
              <a:off x="8532189" y="5068824"/>
              <a:ext cx="393192" cy="393192"/>
            </a:xfrm>
            <a:prstGeom prst="ellipse">
              <a:avLst/>
            </a:prstGeom>
            <a:blipFill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 bwMode="auto"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pt-BR"/>
              <a:t>Editar estilos de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2E700DB3-DBF0-4086-B675-117E7A9610B8}" type="datetimeFigureOut">
              <a:rPr lang="pt-BR"/>
              <a:t>25/02/2026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fld id="{2119D8CF-8DEC-4D9F-84EE-ADF04DFF3391}" type="slidenum">
              <a:rPr lang="pt-BR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200" b="0" cap="all">
          <a:blipFill>
            <a:blip r:embed="rId14"/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/>
        <a:buChar char="§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968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7384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2EF8194B-4E43-4BEF-8D39-035DBDE00B03}"/>
              </a:ext>
            </a:extLst>
          </p:cNvPr>
          <p:cNvSpPr/>
          <p:nvPr/>
        </p:nvSpPr>
        <p:spPr>
          <a:xfrm>
            <a:off x="1540136" y="50994"/>
            <a:ext cx="494550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altLang="pt-B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CEUB</a:t>
            </a:r>
          </a:p>
          <a:p>
            <a:pPr algn="ctr"/>
            <a:r>
              <a:rPr lang="pt-BR" altLang="pt-B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FATECS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346D6EF-0A64-408E-8AD3-A28E69F040D6}"/>
              </a:ext>
            </a:extLst>
          </p:cNvPr>
          <p:cNvSpPr/>
          <p:nvPr/>
        </p:nvSpPr>
        <p:spPr>
          <a:xfrm>
            <a:off x="593890" y="2699042"/>
            <a:ext cx="735290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457200">
              <a:buClrTx/>
            </a:pPr>
            <a:r>
              <a:rPr lang="pt-BR" altLang="pt-BR" sz="2800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Análise e Desenvolvimento de Sistemas - ADS</a:t>
            </a:r>
          </a:p>
          <a:p>
            <a:pPr lvl="0" algn="ctr" defTabSz="457200">
              <a:buClrTx/>
            </a:pPr>
            <a:endParaRPr lang="pt-BR" altLang="pt-BR" sz="2800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0" algn="ctr" defTabSz="457200">
              <a:buClrTx/>
            </a:pPr>
            <a:r>
              <a:rPr lang="pt-BR" altLang="pt-BR" sz="2800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Ciência da Computação - CCO</a:t>
            </a:r>
          </a:p>
          <a:p>
            <a:pPr lvl="0" algn="ctr" defTabSz="457200">
              <a:buClrTx/>
            </a:pPr>
            <a:endParaRPr lang="pt-BR" altLang="pt-BR" sz="2800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0" algn="ctr" defTabSz="457200">
              <a:buClrTx/>
            </a:pPr>
            <a:r>
              <a:rPr lang="pt-BR" altLang="pt-BR" sz="2800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Engenharia de Software - ESW</a:t>
            </a:r>
          </a:p>
          <a:p>
            <a:pPr lvl="0" algn="ctr" defTabSz="457200">
              <a:buClrTx/>
            </a:pPr>
            <a:endParaRPr lang="pt-BR" altLang="pt-BR" sz="2800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0" algn="ctr" defTabSz="457200">
              <a:buClrTx/>
            </a:pPr>
            <a:endParaRPr lang="pt-BR" altLang="pt-BR" sz="2800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0" algn="ctr" defTabSz="457200">
              <a:buClrTx/>
            </a:pPr>
            <a:endParaRPr lang="pt-BR" altLang="pt-BR" sz="2800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0" algn="ctr" defTabSz="457200">
              <a:buClrTx/>
            </a:pPr>
            <a:r>
              <a:rPr lang="pt-BR" altLang="pt-BR" sz="2800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Prof. Barbosa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"/>
          <p:cNvSpPr txBox="1"/>
          <p:nvPr/>
        </p:nvSpPr>
        <p:spPr>
          <a:xfrm>
            <a:off x="0" y="24682"/>
            <a:ext cx="9106225" cy="5609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endParaRPr lang="pt-BR" altLang="pt-BR" sz="3000" dirty="0">
              <a:latin typeface="+mj-lt"/>
              <a:cs typeface="Times New Roman" panose="02020603050405020304" pitchFamily="18" charset="0"/>
            </a:endParaRPr>
          </a:p>
          <a:p>
            <a:r>
              <a:rPr lang="pt-BR" altLang="pt-BR" sz="3000" dirty="0">
                <a:latin typeface="+mj-lt"/>
                <a:cs typeface="Times New Roman" panose="02020603050405020304" pitchFamily="18" charset="0"/>
              </a:rPr>
              <a:t>	</a:t>
            </a:r>
          </a:p>
          <a:p>
            <a:r>
              <a:rPr lang="pt-BR" altLang="pt-BR" sz="3000" dirty="0">
                <a:latin typeface="+mj-lt"/>
                <a:cs typeface="Times New Roman" panose="02020603050405020304" pitchFamily="18" charset="0"/>
              </a:rPr>
              <a:t>     - Disciplina:</a:t>
            </a:r>
          </a:p>
          <a:p>
            <a:br>
              <a:rPr lang="pt-BR" altLang="pt-BR" sz="3000" dirty="0">
                <a:latin typeface="+mj-lt"/>
                <a:cs typeface="Times New Roman" panose="02020603050405020304" pitchFamily="18" charset="0"/>
              </a:rPr>
            </a:br>
            <a:r>
              <a:rPr lang="pt-BR" altLang="pt-BR" sz="3000" dirty="0">
                <a:latin typeface="+mj-lt"/>
                <a:cs typeface="Times New Roman" panose="02020603050405020304" pitchFamily="18" charset="0"/>
              </a:rPr>
              <a:t>     Lógica De Programação - LP</a:t>
            </a:r>
          </a:p>
          <a:p>
            <a:pPr algn="just"/>
            <a:endParaRPr lang="pt-BR" altLang="pt-BR" sz="3000" dirty="0">
              <a:latin typeface="+mj-lt"/>
              <a:cs typeface="Times New Roman" panose="02020603050405020304" pitchFamily="18" charset="0"/>
            </a:endParaRPr>
          </a:p>
          <a:p>
            <a:pPr algn="just"/>
            <a:endParaRPr lang="pt-BR" altLang="pt-BR" sz="3000" dirty="0">
              <a:latin typeface="+mj-lt"/>
              <a:cs typeface="Times New Roman" panose="02020603050405020304" pitchFamily="18" charset="0"/>
            </a:endParaRPr>
          </a:p>
          <a:p>
            <a:pPr algn="just"/>
            <a:endParaRPr lang="pt-BR" altLang="pt-BR" sz="3000" dirty="0">
              <a:latin typeface="+mj-lt"/>
              <a:cs typeface="Times New Roman" panose="02020603050405020304" pitchFamily="18" charset="0"/>
            </a:endParaRPr>
          </a:p>
          <a:p>
            <a:pPr algn="r"/>
            <a:br>
              <a:rPr lang="pt-BR" altLang="pt-BR" sz="3000" dirty="0">
                <a:latin typeface="+mj-lt"/>
                <a:cs typeface="Times New Roman" panose="02020603050405020304" pitchFamily="18" charset="0"/>
              </a:rPr>
            </a:br>
            <a:endParaRPr lang="pt-BR" altLang="pt-BR" sz="3000" dirty="0">
              <a:latin typeface="+mj-lt"/>
              <a:cs typeface="Times New Roman" panose="02020603050405020304" pitchFamily="18" charset="0"/>
            </a:endParaRPr>
          </a:p>
          <a:p>
            <a:pPr algn="r"/>
            <a:endParaRPr lang="pt-BR" altLang="pt-BR" sz="3000" dirty="0">
              <a:latin typeface="+mj-lt"/>
              <a:cs typeface="Times New Roman" panose="02020603050405020304" pitchFamily="18" charset="0"/>
            </a:endParaRPr>
          </a:p>
          <a:p>
            <a:pPr algn="r"/>
            <a:r>
              <a:rPr lang="pt-BR" altLang="pt-BR" sz="3000" dirty="0">
                <a:latin typeface="+mj-lt"/>
                <a:cs typeface="Times New Roman" panose="02020603050405020304" pitchFamily="18" charset="0"/>
              </a:rPr>
              <a:t>Prof. Barbosa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Escrevendo seu primeiro programa</a:t>
            </a:r>
            <a:endParaRPr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63383" y="1884079"/>
            <a:ext cx="4052633" cy="1306520"/>
          </a:xfrm>
          <a:prstGeom prst="rect">
            <a:avLst/>
          </a:prstGeom>
        </p:spPr>
      </p:pic>
      <p:sp>
        <p:nvSpPr>
          <p:cNvPr id="8" name="Retângulo 7"/>
          <p:cNvSpPr/>
          <p:nvPr/>
        </p:nvSpPr>
        <p:spPr bwMode="auto">
          <a:xfrm>
            <a:off x="1907704" y="3721531"/>
            <a:ext cx="4140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pt-BR">
                <a:latin typeface="Calibri"/>
                <a:ea typeface="Calibri"/>
                <a:cs typeface="Times New Roman"/>
              </a:rPr>
              <a:t>Run + Run (executar ou rodar o programa)</a:t>
            </a:r>
            <a:endParaRPr lang="pt-BR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63383" y="4764025"/>
            <a:ext cx="5564863" cy="1482051"/>
          </a:xfrm>
          <a:prstGeom prst="rect">
            <a:avLst/>
          </a:prstGeom>
        </p:spPr>
      </p:pic>
      <p:sp>
        <p:nvSpPr>
          <p:cNvPr id="10" name="Seta: para Baixo 9"/>
          <p:cNvSpPr/>
          <p:nvPr/>
        </p:nvSpPr>
        <p:spPr bwMode="auto">
          <a:xfrm>
            <a:off x="2123728" y="3284984"/>
            <a:ext cx="360040" cy="369332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1" name="Seta: para Baixo 10"/>
          <p:cNvSpPr/>
          <p:nvPr/>
        </p:nvSpPr>
        <p:spPr bwMode="auto">
          <a:xfrm>
            <a:off x="2123728" y="4295212"/>
            <a:ext cx="360040" cy="369332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Erro de sintaxe</a:t>
            </a:r>
            <a:endParaRPr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/>
        </p:blipFill>
        <p:spPr bwMode="auto">
          <a:xfrm>
            <a:off x="606360" y="1916832"/>
            <a:ext cx="3087550" cy="1023497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20354" y="4509120"/>
            <a:ext cx="7459982" cy="1609344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 bwMode="auto">
          <a:xfrm>
            <a:off x="1907704" y="3496214"/>
            <a:ext cx="11432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pt-BR">
                <a:latin typeface="Calibri"/>
                <a:ea typeface="Calibri"/>
                <a:cs typeface="Times New Roman"/>
              </a:rPr>
              <a:t>Run + Run</a:t>
            </a:r>
            <a:endParaRPr lang="pt-BR"/>
          </a:p>
        </p:txBody>
      </p:sp>
      <p:sp>
        <p:nvSpPr>
          <p:cNvPr id="7" name="Seta: para Baixo 6"/>
          <p:cNvSpPr/>
          <p:nvPr/>
        </p:nvSpPr>
        <p:spPr bwMode="auto">
          <a:xfrm>
            <a:off x="2123728" y="3059668"/>
            <a:ext cx="360040" cy="369332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8" name="Seta: para Baixo 7"/>
          <p:cNvSpPr/>
          <p:nvPr/>
        </p:nvSpPr>
        <p:spPr bwMode="auto">
          <a:xfrm>
            <a:off x="2123728" y="4069896"/>
            <a:ext cx="360040" cy="369332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9" name="Balão de Pensamento: Nuvem 8"/>
          <p:cNvSpPr/>
          <p:nvPr/>
        </p:nvSpPr>
        <p:spPr bwMode="auto">
          <a:xfrm>
            <a:off x="4427984" y="1340768"/>
            <a:ext cx="4536504" cy="2729128"/>
          </a:xfrm>
          <a:prstGeom prst="cloudCallout">
            <a:avLst>
              <a:gd name="adj1" fmla="val -55253"/>
              <a:gd name="adj2" fmla="val 9175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pt-BR" sz="1600" dirty="0"/>
              <a:t>Em vez de simplesmente ficar quebrando a cabeça e tentando fazer seu programa funcionar por tentativa e erro, procure ler a </a:t>
            </a:r>
            <a:br>
              <a:rPr lang="pt-BR" sz="1600" dirty="0"/>
            </a:br>
            <a:r>
              <a:rPr lang="pt-BR" sz="1600" dirty="0"/>
              <a:t>mensagem de erro.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Aspas simples ou duplas</a:t>
            </a:r>
            <a:endParaRPr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pt-BR" b="1" dirty="0"/>
              <a:t>print("bica d'água")</a:t>
            </a:r>
            <a:endParaRPr dirty="0"/>
          </a:p>
          <a:p>
            <a:pPr>
              <a:defRPr/>
            </a:pPr>
            <a:endParaRPr lang="pt-BR" b="1" dirty="0"/>
          </a:p>
          <a:p>
            <a:pPr>
              <a:defRPr/>
            </a:pPr>
            <a:endParaRPr lang="pt-BR" b="1" dirty="0"/>
          </a:p>
          <a:p>
            <a:pPr>
              <a:defRPr/>
            </a:pPr>
            <a:r>
              <a:rPr lang="pt-BR" b="1" dirty="0"/>
              <a:t>print('bica d'água')</a:t>
            </a:r>
            <a:endParaRPr lang="pt-BR" dirty="0"/>
          </a:p>
        </p:txBody>
      </p:sp>
      <p:pic>
        <p:nvPicPr>
          <p:cNvPr id="5" name="Gráfico 4" descr="Rosto Triste com Preenchimento Sólido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657600" y="3232404"/>
            <a:ext cx="914400" cy="914400"/>
          </a:xfrm>
          <a:prstGeom prst="rect">
            <a:avLst/>
          </a:prstGeom>
        </p:spPr>
      </p:pic>
      <p:pic>
        <p:nvPicPr>
          <p:cNvPr id="7" name="Gráfico 6" descr="Rosto Piscando com Preenchimento Sólido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657600" y="1854868"/>
            <a:ext cx="914400" cy="91440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85800" y="4797152"/>
            <a:ext cx="4142993" cy="10885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Explicando a função “print”</a:t>
            </a:r>
            <a:endParaRPr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Linguagem imperativa</a:t>
            </a:r>
            <a:endParaRPr/>
          </a:p>
          <a:p>
            <a:pPr>
              <a:defRPr/>
            </a:pPr>
            <a:r>
              <a:rPr lang="pt-BR"/>
              <a:t>Comando</a:t>
            </a:r>
            <a:endParaRPr/>
          </a:p>
          <a:p>
            <a:pPr>
              <a:defRPr/>
            </a:pPr>
            <a:r>
              <a:rPr lang="pt-BR"/>
              <a:t>Função</a:t>
            </a:r>
            <a:endParaRPr/>
          </a:p>
          <a:p>
            <a:pPr>
              <a:defRPr/>
            </a:pPr>
            <a:endParaRPr lang="pt-BR"/>
          </a:p>
          <a:p>
            <a:pPr>
              <a:defRPr/>
            </a:pPr>
            <a:r>
              <a:rPr lang="pt-BR"/>
              <a:t>Por que não: </a:t>
            </a:r>
            <a:br>
              <a:rPr lang="pt-BR"/>
            </a:br>
            <a:r>
              <a:rPr lang="pt-BR" b="1"/>
              <a:t>print 'Alô mundo!</a:t>
            </a:r>
            <a:r>
              <a:rPr lang="pt-BR"/>
              <a:t>’ 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Nova linha após “print”</a:t>
            </a:r>
            <a:endParaRPr/>
          </a:p>
        </p:txBody>
      </p:sp>
      <p:sp>
        <p:nvSpPr>
          <p:cNvPr id="5" name="Retângulo 4"/>
          <p:cNvSpPr/>
          <p:nvPr/>
        </p:nvSpPr>
        <p:spPr bwMode="auto">
          <a:xfrm>
            <a:off x="1907704" y="2785427"/>
            <a:ext cx="11432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pt-BR">
                <a:latin typeface="Calibri"/>
                <a:cs typeface="Times New Roman"/>
              </a:rPr>
              <a:t>Run + Run</a:t>
            </a:r>
            <a:endParaRPr lang="pt-BR"/>
          </a:p>
        </p:txBody>
      </p:sp>
      <p:sp>
        <p:nvSpPr>
          <p:cNvPr id="6" name="Seta: para Baixo 5"/>
          <p:cNvSpPr/>
          <p:nvPr/>
        </p:nvSpPr>
        <p:spPr bwMode="auto">
          <a:xfrm>
            <a:off x="2123728" y="2348880"/>
            <a:ext cx="360040" cy="369332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" name="Seta: para Baixo 6"/>
          <p:cNvSpPr/>
          <p:nvPr/>
        </p:nvSpPr>
        <p:spPr bwMode="auto">
          <a:xfrm>
            <a:off x="2123728" y="3359108"/>
            <a:ext cx="360040" cy="369332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60506" y="4744096"/>
            <a:ext cx="5524270" cy="1609344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 bwMode="auto">
          <a:xfrm>
            <a:off x="827584" y="4005064"/>
            <a:ext cx="4968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pt-BR" sz="2000"/>
              <a:t>Saída:</a:t>
            </a:r>
            <a:endParaRPr/>
          </a:p>
        </p:txBody>
      </p:sp>
      <p:sp>
        <p:nvSpPr>
          <p:cNvPr id="351071140" name="CaixaDeTexto 351071139"/>
          <p:cNvSpPr txBox="1"/>
          <p:nvPr/>
        </p:nvSpPr>
        <p:spPr bwMode="auto">
          <a:xfrm>
            <a:off x="832244" y="1186587"/>
            <a:ext cx="6434545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dirty="0">
                <a:solidFill>
                  <a:srgbClr val="0070C0"/>
                </a:solidFill>
                <a:latin typeface="Arial"/>
                <a:cs typeface="Arial"/>
              </a:rPr>
              <a:t>print</a:t>
            </a:r>
            <a:r>
              <a:rPr lang="pt-BR" dirty="0">
                <a:latin typeface="Arial"/>
                <a:cs typeface="Arial"/>
              </a:rPr>
              <a:t>(‘ Alô mundo!’)</a:t>
            </a:r>
          </a:p>
          <a:p>
            <a:pPr>
              <a:defRPr/>
            </a:pPr>
            <a:endParaRPr dirty="0">
              <a:latin typeface="Arial"/>
              <a:cs typeface="Arial"/>
            </a:endParaRPr>
          </a:p>
          <a:p>
            <a:pPr>
              <a:defRPr/>
            </a:pPr>
            <a:r>
              <a:rPr lang="pt-BR" sz="1800" b="0" i="0" u="none" strike="noStrike" cap="none" spc="0" dirty="0">
                <a:solidFill>
                  <a:srgbClr val="0070C0"/>
                </a:solidFill>
                <a:latin typeface="Arial"/>
                <a:ea typeface="+mn-ea"/>
                <a:cs typeface="Arial"/>
              </a:rPr>
              <a:t>print</a:t>
            </a:r>
            <a:r>
              <a:rPr lang="pt-BR" sz="18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(‘ Um bom dia!’)</a:t>
            </a:r>
            <a:endParaRPr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 dirty="0"/>
              <a:t>Várias literais (</a:t>
            </a:r>
            <a:r>
              <a:rPr lang="pt-BR" dirty="0" err="1"/>
              <a:t>strings</a:t>
            </a:r>
            <a:r>
              <a:rPr lang="pt-BR" dirty="0"/>
              <a:t>)</a:t>
            </a:r>
            <a:endParaRPr dirty="0"/>
          </a:p>
        </p:txBody>
      </p:sp>
      <p:sp>
        <p:nvSpPr>
          <p:cNvPr id="6" name="CaixaDeTexto 5"/>
          <p:cNvSpPr txBox="1"/>
          <p:nvPr/>
        </p:nvSpPr>
        <p:spPr bwMode="auto">
          <a:xfrm>
            <a:off x="827584" y="4437112"/>
            <a:ext cx="49685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pt-BR" sz="2000" dirty="0"/>
              <a:t>Saída:</a:t>
            </a:r>
            <a:endParaRPr sz="2000" dirty="0"/>
          </a:p>
          <a:p>
            <a:pPr>
              <a:defRPr/>
            </a:pPr>
            <a:endParaRPr lang="pt-BR" sz="2000" dirty="0"/>
          </a:p>
          <a:p>
            <a:pPr>
              <a:defRPr/>
            </a:pPr>
            <a:r>
              <a:rPr lang="pt-BR" sz="2000" dirty="0"/>
              <a:t>Alô Mundo! Um bom dia!</a:t>
            </a:r>
          </a:p>
          <a:p>
            <a:pPr>
              <a:defRPr/>
            </a:pPr>
            <a:endParaRPr sz="2000" dirty="0"/>
          </a:p>
        </p:txBody>
      </p:sp>
      <p:sp>
        <p:nvSpPr>
          <p:cNvPr id="1904945991" name="CaixaDeTexto 1904945990"/>
          <p:cNvSpPr txBox="1"/>
          <p:nvPr/>
        </p:nvSpPr>
        <p:spPr bwMode="auto">
          <a:xfrm>
            <a:off x="685799" y="2058368"/>
            <a:ext cx="4577978" cy="88870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1800" b="0" i="0" u="none" strike="noStrike" cap="none" spc="0" dirty="0">
                <a:solidFill>
                  <a:srgbClr val="0070C0"/>
                </a:solidFill>
                <a:latin typeface="Arial"/>
                <a:ea typeface="+mn-ea"/>
                <a:cs typeface="Arial"/>
              </a:rPr>
              <a:t>print</a:t>
            </a:r>
            <a:r>
              <a:rPr lang="pt-BR" sz="1800" b="0" i="0" u="none" strike="noStrike" cap="none" spc="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(‘ Alô mundo!’, ‘Um bom dia!’)</a:t>
            </a:r>
            <a:endParaRPr sz="1800" dirty="0">
              <a:latin typeface="Arial"/>
              <a:cs typeface="Arial"/>
            </a:endParaRPr>
          </a:p>
          <a:p>
            <a:pPr>
              <a:defRPr/>
            </a:pPr>
            <a:endParaRPr sz="1800" dirty="0">
              <a:latin typeface="Arial"/>
              <a:cs typeface="Arial"/>
            </a:endParaRPr>
          </a:p>
          <a:p>
            <a:pPr>
              <a:defRPr/>
            </a:pPr>
            <a:endParaRPr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>
          <a:xfrm>
            <a:off x="685800" y="44624"/>
            <a:ext cx="7772400" cy="720080"/>
          </a:xfrm>
        </p:spPr>
        <p:txBody>
          <a:bodyPr/>
          <a:lstStyle/>
          <a:p>
            <a:pPr>
              <a:defRPr/>
            </a:pPr>
            <a:r>
              <a:rPr lang="pt-BR" dirty="0"/>
              <a:t>“Força” linha nova (\n)</a:t>
            </a:r>
            <a:endParaRPr dirty="0"/>
          </a:p>
        </p:txBody>
      </p:sp>
      <p:sp>
        <p:nvSpPr>
          <p:cNvPr id="325930951" name="CaixaDeTexto 325930950"/>
          <p:cNvSpPr txBox="1"/>
          <p:nvPr/>
        </p:nvSpPr>
        <p:spPr bwMode="auto">
          <a:xfrm>
            <a:off x="1136242" y="1196752"/>
            <a:ext cx="5668006" cy="516250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2000" b="0" i="0" u="none" strike="noStrike" cap="none" spc="0" dirty="0">
                <a:solidFill>
                  <a:srgbClr val="0070C0"/>
                </a:solidFill>
                <a:latin typeface="Arial"/>
                <a:ea typeface="+mn-ea"/>
                <a:cs typeface="Arial"/>
              </a:rPr>
              <a:t>print</a:t>
            </a:r>
            <a:r>
              <a:rPr lang="pt-BR" sz="2000" b="0" i="0" u="none" strike="noStrike" cap="none" spc="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(‘Alô mundo!</a:t>
            </a:r>
            <a:r>
              <a:rPr lang="pt-BR" sz="2000" b="0" i="0" u="none" strike="noStrike" cap="none" spc="0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\</a:t>
            </a:r>
            <a:r>
              <a:rPr lang="pt-BR" sz="2000" b="0" i="0" u="none" strike="noStrike" cap="none" spc="0" dirty="0" err="1">
                <a:solidFill>
                  <a:srgbClr val="0070C0"/>
                </a:solidFill>
                <a:latin typeface="Arial"/>
                <a:ea typeface="Arial"/>
                <a:cs typeface="Arial"/>
              </a:rPr>
              <a:t>n</a:t>
            </a:r>
            <a:r>
              <a:rPr lang="pt-BR" sz="2000" b="0" i="0" u="none" strike="noStrike" cap="none" spc="0" dirty="0" err="1">
                <a:solidFill>
                  <a:schemeClr val="tx1"/>
                </a:solidFill>
                <a:latin typeface="Arial"/>
                <a:ea typeface="Arial"/>
                <a:cs typeface="Arial"/>
              </a:rPr>
              <a:t>Um</a:t>
            </a:r>
            <a:r>
              <a:rPr lang="pt-BR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bom dia!’)  </a:t>
            </a:r>
          </a:p>
          <a:p>
            <a:pPr>
              <a:defRPr/>
            </a:pPr>
            <a:endParaRPr lang="pt-BR" sz="2000" dirty="0"/>
          </a:p>
          <a:p>
            <a:pPr marL="285750" indent="-285750">
              <a:buFont typeface="Arial"/>
              <a:buChar char="•"/>
              <a:defRPr/>
            </a:pPr>
            <a:r>
              <a:rPr lang="pt-BR" sz="2000" dirty="0"/>
              <a:t>Saída:</a:t>
            </a:r>
          </a:p>
          <a:p>
            <a:pPr>
              <a:defRPr/>
            </a:pPr>
            <a:endParaRPr lang="pt-BR" sz="2000" dirty="0"/>
          </a:p>
          <a:p>
            <a:pPr>
              <a:defRPr/>
            </a:pPr>
            <a:r>
              <a:rPr lang="pt-BR" sz="2000" dirty="0"/>
              <a:t>Alô Mundo!</a:t>
            </a:r>
          </a:p>
          <a:p>
            <a:pPr>
              <a:defRPr/>
            </a:pPr>
            <a:r>
              <a:rPr lang="pt-BR" sz="2000" dirty="0"/>
              <a:t>Um bom dia!</a:t>
            </a:r>
          </a:p>
          <a:p>
            <a:pPr>
              <a:defRPr/>
            </a:pPr>
            <a:endParaRPr lang="pt-BR" sz="2000" dirty="0">
              <a:latin typeface="Arial"/>
              <a:cs typeface="Arial"/>
            </a:endParaRPr>
          </a:p>
          <a:p>
            <a:pPr>
              <a:defRPr/>
            </a:pPr>
            <a:endParaRPr lang="pt-BR" sz="2000" dirty="0">
              <a:latin typeface="Arial"/>
              <a:cs typeface="Arial"/>
            </a:endParaRPr>
          </a:p>
          <a:p>
            <a:pPr>
              <a:defRPr/>
            </a:pPr>
            <a:endParaRPr lang="pt-BR" sz="2000" dirty="0">
              <a:latin typeface="Arial"/>
              <a:cs typeface="Arial"/>
            </a:endParaRPr>
          </a:p>
          <a:p>
            <a:pPr>
              <a:defRPr/>
            </a:pPr>
            <a:endParaRPr lang="pt-BR" sz="2000" dirty="0">
              <a:latin typeface="Arial"/>
              <a:cs typeface="Arial"/>
            </a:endParaRPr>
          </a:p>
          <a:p>
            <a:pPr>
              <a:defRPr/>
            </a:pPr>
            <a:r>
              <a:rPr lang="pt-BR" sz="2000" dirty="0">
                <a:solidFill>
                  <a:srgbClr val="0070C0"/>
                </a:solidFill>
                <a:latin typeface="Arial"/>
              </a:rPr>
              <a:t>print</a:t>
            </a:r>
            <a:r>
              <a:rPr lang="pt-BR" sz="2000" dirty="0">
                <a:latin typeface="Arial"/>
              </a:rPr>
              <a:t>(‘Alô mundo!</a:t>
            </a:r>
            <a:r>
              <a:rPr lang="pt-BR" sz="2000" dirty="0">
                <a:solidFill>
                  <a:srgbClr val="0070C0"/>
                </a:solidFill>
                <a:latin typeface="Arial"/>
              </a:rPr>
              <a:t> </a:t>
            </a:r>
            <a:r>
              <a:rPr lang="pt-BR" sz="2000" dirty="0">
                <a:latin typeface="Arial"/>
              </a:rPr>
              <a:t>Um bom dia!’)  </a:t>
            </a:r>
          </a:p>
          <a:p>
            <a:pPr marL="285750" indent="-285750">
              <a:buFont typeface="Arial"/>
              <a:buChar char="•"/>
              <a:defRPr/>
            </a:pPr>
            <a:endParaRPr lang="pt-BR" sz="2000" dirty="0"/>
          </a:p>
          <a:p>
            <a:pPr marL="285750" indent="-285750">
              <a:buFont typeface="Arial"/>
              <a:buChar char="•"/>
              <a:defRPr/>
            </a:pPr>
            <a:r>
              <a:rPr lang="pt-BR" sz="2000" dirty="0"/>
              <a:t>Saída:</a:t>
            </a:r>
          </a:p>
          <a:p>
            <a:pPr>
              <a:defRPr/>
            </a:pPr>
            <a:endParaRPr lang="pt-BR" sz="2000" dirty="0"/>
          </a:p>
          <a:p>
            <a:pPr>
              <a:defRPr/>
            </a:pPr>
            <a:r>
              <a:rPr lang="pt-BR" sz="2000" dirty="0"/>
              <a:t>Alô Mundo! Um bom dia!</a:t>
            </a:r>
          </a:p>
          <a:p>
            <a:pPr>
              <a:defRPr/>
            </a:pPr>
            <a:endParaRPr lang="pt-BR" sz="2000" dirty="0">
              <a:latin typeface="Arial"/>
            </a:endParaRPr>
          </a:p>
          <a:p>
            <a:pPr>
              <a:defRPr/>
            </a:pPr>
            <a:r>
              <a:rPr lang="pt-BR" sz="2000" dirty="0">
                <a:latin typeface="Arial"/>
                <a:cs typeface="Arial"/>
              </a:rPr>
              <a:t>‘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9309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9309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9309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9309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9309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93095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4334332" name="Imagem 113433433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09872" y="836712"/>
            <a:ext cx="8667749" cy="2238374"/>
          </a:xfrm>
          <a:prstGeom prst="rect">
            <a:avLst/>
          </a:prstGeom>
        </p:spPr>
      </p:pic>
      <p:sp>
        <p:nvSpPr>
          <p:cNvPr id="1633198957" name="CaixaDeTexto 1633198956"/>
          <p:cNvSpPr txBox="1"/>
          <p:nvPr/>
        </p:nvSpPr>
        <p:spPr bwMode="auto">
          <a:xfrm>
            <a:off x="349003" y="3212976"/>
            <a:ext cx="8671524" cy="976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2000" dirty="0">
                <a:solidFill>
                  <a:srgbClr val="0070C0"/>
                </a:solidFill>
                <a:latin typeface="Times New Roman"/>
                <a:cs typeface="Times New Roman"/>
              </a:rPr>
              <a:t>Observe que há uma linha em branco entre o titulo da lista e os respectivos itens. Embora você possa usar vários comandos “print” para resolver este problema, sugerimos que tente fazer usando um único comando “print”.</a:t>
            </a:r>
            <a:endParaRPr sz="2000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260B8DA-6DEB-432E-B53D-F5B23F3FF30C}"/>
              </a:ext>
            </a:extLst>
          </p:cNvPr>
          <p:cNvSpPr txBox="1"/>
          <p:nvPr/>
        </p:nvSpPr>
        <p:spPr bwMode="auto">
          <a:xfrm>
            <a:off x="209872" y="116632"/>
            <a:ext cx="8809935" cy="68223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2000" dirty="0">
                <a:solidFill>
                  <a:srgbClr val="0070C0"/>
                </a:solidFill>
                <a:latin typeface="Arial"/>
                <a:cs typeface="Arial"/>
              </a:rPr>
              <a:t>- Exercício 2-1: </a:t>
            </a:r>
          </a:p>
          <a:p>
            <a:pPr>
              <a:defRPr/>
            </a:pPr>
            <a:r>
              <a:rPr lang="pt-BR" sz="2000" dirty="0">
                <a:solidFill>
                  <a:srgbClr val="0070C0"/>
                </a:solidFill>
                <a:latin typeface="Arial"/>
                <a:cs typeface="Arial"/>
              </a:rPr>
              <a:t>Escreva um programa em Python que produza o seguinte resultado na tela:</a:t>
            </a:r>
            <a:endParaRPr sz="20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6E42113-59A3-4CE2-8959-603FCC495714}"/>
              </a:ext>
            </a:extLst>
          </p:cNvPr>
          <p:cNvSpPr txBox="1"/>
          <p:nvPr/>
        </p:nvSpPr>
        <p:spPr bwMode="auto">
          <a:xfrm>
            <a:off x="755576" y="4396217"/>
            <a:ext cx="6552179" cy="976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Solução 1:</a:t>
            </a:r>
          </a:p>
          <a:p>
            <a:pPr>
              <a:defRPr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print(‘Lista de compras:</a:t>
            </a:r>
            <a:r>
              <a:rPr lang="pt-BR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\n\</a:t>
            </a:r>
            <a:r>
              <a:rPr lang="pt-BR" sz="2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pt-BR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pt-BR" sz="2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pão</a:t>
            </a:r>
            <a:r>
              <a:rPr lang="pt-BR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pt-BR" sz="2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café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’)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198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319895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4334332" name="Imagem 113433433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09872" y="836712"/>
            <a:ext cx="8667749" cy="2238374"/>
          </a:xfrm>
          <a:prstGeom prst="rect">
            <a:avLst/>
          </a:prstGeom>
        </p:spPr>
      </p:pic>
      <p:sp>
        <p:nvSpPr>
          <p:cNvPr id="1633198957" name="CaixaDeTexto 1633198956"/>
          <p:cNvSpPr txBox="1"/>
          <p:nvPr/>
        </p:nvSpPr>
        <p:spPr bwMode="auto">
          <a:xfrm>
            <a:off x="349003" y="3212976"/>
            <a:ext cx="8671524" cy="976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2000" dirty="0">
                <a:solidFill>
                  <a:srgbClr val="0070C0"/>
                </a:solidFill>
                <a:latin typeface="Times New Roman"/>
                <a:cs typeface="Times New Roman"/>
              </a:rPr>
              <a:t>Observe que há uma linha em branco entre o titulo da lista e os respectivos itens. Embora você possa usar vários comandos “print” para resolver este problema, sugerimos que tente fazer usando um único comando “print”.</a:t>
            </a:r>
            <a:endParaRPr sz="2000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260B8DA-6DEB-432E-B53D-F5B23F3FF30C}"/>
              </a:ext>
            </a:extLst>
          </p:cNvPr>
          <p:cNvSpPr txBox="1"/>
          <p:nvPr/>
        </p:nvSpPr>
        <p:spPr bwMode="auto">
          <a:xfrm>
            <a:off x="209872" y="116632"/>
            <a:ext cx="8809935" cy="68223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2000" dirty="0">
                <a:solidFill>
                  <a:srgbClr val="0070C0"/>
                </a:solidFill>
                <a:latin typeface="Arial"/>
                <a:cs typeface="Arial"/>
              </a:rPr>
              <a:t>- Exercício 2-1: </a:t>
            </a:r>
          </a:p>
          <a:p>
            <a:pPr>
              <a:defRPr/>
            </a:pPr>
            <a:r>
              <a:rPr lang="pt-BR" sz="2000" dirty="0">
                <a:solidFill>
                  <a:srgbClr val="0070C0"/>
                </a:solidFill>
                <a:latin typeface="Arial"/>
                <a:cs typeface="Arial"/>
              </a:rPr>
              <a:t>Escreva um programa em Python que produza o seguinte resultado na tela:</a:t>
            </a:r>
            <a:endParaRPr sz="20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A845ED5-FAC4-4C75-9658-BE91B8EA49DC}"/>
              </a:ext>
            </a:extLst>
          </p:cNvPr>
          <p:cNvSpPr txBox="1"/>
          <p:nvPr/>
        </p:nvSpPr>
        <p:spPr bwMode="auto">
          <a:xfrm>
            <a:off x="755576" y="4526520"/>
            <a:ext cx="6587459" cy="156677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2000" dirty="0">
                <a:solidFill>
                  <a:schemeClr val="tx1"/>
                </a:solidFill>
                <a:latin typeface="Times New Roman"/>
                <a:cs typeface="Times New Roman"/>
              </a:rPr>
              <a:t>print(‘Lista de compras’)         # Solução 2:</a:t>
            </a:r>
          </a:p>
          <a:p>
            <a:pPr>
              <a:defRPr/>
            </a:pPr>
            <a:r>
              <a:rPr lang="pt-BR" sz="2000" dirty="0">
                <a:solidFill>
                  <a:schemeClr val="tx1"/>
                </a:solidFill>
                <a:latin typeface="Times New Roman"/>
                <a:cs typeface="Times New Roman"/>
              </a:rPr>
              <a:t>print()</a:t>
            </a:r>
          </a:p>
          <a:p>
            <a:pPr>
              <a:defRPr/>
            </a:pPr>
            <a:r>
              <a:rPr lang="pt-BR" sz="2000" dirty="0">
                <a:solidFill>
                  <a:schemeClr val="tx1"/>
                </a:solidFill>
                <a:latin typeface="Times New Roman"/>
                <a:cs typeface="Times New Roman"/>
              </a:rPr>
              <a:t>print (‘leite’)</a:t>
            </a:r>
          </a:p>
          <a:p>
            <a:pPr>
              <a:defRPr/>
            </a:pPr>
            <a:r>
              <a:rPr lang="pt-BR" sz="2000" dirty="0">
                <a:solidFill>
                  <a:schemeClr val="tx1"/>
                </a:solidFill>
                <a:latin typeface="Times New Roman"/>
                <a:cs typeface="Times New Roman"/>
              </a:rPr>
              <a:t>print(‘pão’)</a:t>
            </a:r>
          </a:p>
          <a:p>
            <a:pPr>
              <a:defRPr/>
            </a:pPr>
            <a:r>
              <a:rPr lang="pt-BR" sz="2000" dirty="0">
                <a:solidFill>
                  <a:schemeClr val="tx1"/>
                </a:solidFill>
                <a:latin typeface="Times New Roman"/>
                <a:cs typeface="Times New Roman"/>
              </a:rPr>
              <a:t>print(‘café’)</a:t>
            </a:r>
          </a:p>
        </p:txBody>
      </p:sp>
    </p:spTree>
    <p:extLst>
      <p:ext uri="{BB962C8B-B14F-4D97-AF65-F5344CB8AC3E}">
        <p14:creationId xmlns:p14="http://schemas.microsoft.com/office/powerpoint/2010/main" val="3332340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198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3198957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Expressões com números inteiros</a:t>
            </a:r>
            <a:endParaRPr/>
          </a:p>
        </p:txBody>
      </p:sp>
      <p:sp>
        <p:nvSpPr>
          <p:cNvPr id="6" name="CaixaDeTexto 5"/>
          <p:cNvSpPr txBox="1"/>
          <p:nvPr/>
        </p:nvSpPr>
        <p:spPr bwMode="auto">
          <a:xfrm>
            <a:off x="3707904" y="2416640"/>
            <a:ext cx="4219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pt-BR" dirty="0"/>
              <a:t>- Qual operação é realizada primeiro?</a:t>
            </a:r>
            <a:endParaRPr dirty="0"/>
          </a:p>
        </p:txBody>
      </p:sp>
      <p:sp>
        <p:nvSpPr>
          <p:cNvPr id="8" name="CaixaDeTexto 7"/>
          <p:cNvSpPr txBox="1"/>
          <p:nvPr/>
        </p:nvSpPr>
        <p:spPr bwMode="auto">
          <a:xfrm>
            <a:off x="3824339" y="4233862"/>
            <a:ext cx="4219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pt-BR" dirty="0"/>
              <a:t>- Qual operação é realizada primeiro?</a:t>
            </a:r>
            <a:endParaRPr dirty="0"/>
          </a:p>
        </p:txBody>
      </p:sp>
      <p:sp>
        <p:nvSpPr>
          <p:cNvPr id="9" name="CaixaDeTexto 8"/>
          <p:cNvSpPr txBox="1"/>
          <p:nvPr/>
        </p:nvSpPr>
        <p:spPr bwMode="auto">
          <a:xfrm>
            <a:off x="3824339" y="3096070"/>
            <a:ext cx="21226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  <a:defRPr/>
            </a:pPr>
            <a:r>
              <a:rPr lang="pt-BR" dirty="0"/>
              <a:t>A multiplicação</a:t>
            </a:r>
          </a:p>
          <a:p>
            <a:pPr marL="285750" indent="-285750">
              <a:buFontTx/>
              <a:buChar char="-"/>
              <a:defRPr/>
            </a:pPr>
            <a:r>
              <a:rPr lang="pt-BR" dirty="0"/>
              <a:t>Saída: 47 </a:t>
            </a:r>
            <a:endParaRPr dirty="0"/>
          </a:p>
        </p:txBody>
      </p:sp>
      <p:sp>
        <p:nvSpPr>
          <p:cNvPr id="10" name="CaixaDeTexto 9"/>
          <p:cNvSpPr txBox="1"/>
          <p:nvPr/>
        </p:nvSpPr>
        <p:spPr bwMode="auto">
          <a:xfrm>
            <a:off x="3976738" y="4881934"/>
            <a:ext cx="14830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  <a:defRPr/>
            </a:pPr>
            <a:r>
              <a:rPr lang="pt-BR" dirty="0"/>
              <a:t>A soma</a:t>
            </a:r>
          </a:p>
          <a:p>
            <a:pPr marL="285750" indent="-285750">
              <a:buFontTx/>
              <a:buChar char="-"/>
              <a:defRPr/>
            </a:pPr>
            <a:r>
              <a:rPr lang="pt-BR" dirty="0"/>
              <a:t>Saída: 63 </a:t>
            </a:r>
          </a:p>
          <a:p>
            <a:pPr marL="285750" indent="-285750">
              <a:buFontTx/>
              <a:buChar char="-"/>
              <a:defRPr/>
            </a:pPr>
            <a:endParaRPr dirty="0"/>
          </a:p>
        </p:txBody>
      </p:sp>
      <p:sp>
        <p:nvSpPr>
          <p:cNvPr id="2100278132" name="CaixaDeTexto 2100278131"/>
          <p:cNvSpPr txBox="1"/>
          <p:nvPr/>
        </p:nvSpPr>
        <p:spPr bwMode="auto">
          <a:xfrm>
            <a:off x="685799" y="1628800"/>
            <a:ext cx="168885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dirty="0">
                <a:solidFill>
                  <a:srgbClr val="0070C0"/>
                </a:solidFill>
                <a:latin typeface="Times New Roman"/>
                <a:cs typeface="Times New Roman"/>
              </a:rPr>
              <a:t>print </a:t>
            </a:r>
            <a:r>
              <a:rPr lang="pt-BR" dirty="0">
                <a:latin typeface="Times New Roman"/>
                <a:cs typeface="Times New Roman"/>
              </a:rPr>
              <a:t>(</a:t>
            </a:r>
            <a:r>
              <a:rPr lang="pt-BR" dirty="0">
                <a:solidFill>
                  <a:srgbClr val="0070C0"/>
                </a:solidFill>
                <a:latin typeface="Times New Roman"/>
                <a:cs typeface="Times New Roman"/>
              </a:rPr>
              <a:t>345</a:t>
            </a:r>
            <a:r>
              <a:rPr lang="pt-BR" dirty="0">
                <a:latin typeface="Times New Roman"/>
                <a:cs typeface="Times New Roman"/>
              </a:rPr>
              <a:t>)</a:t>
            </a:r>
            <a:endParaRPr dirty="0">
              <a:latin typeface="Times New Roman"/>
              <a:cs typeface="Times New Roman"/>
            </a:endParaRPr>
          </a:p>
        </p:txBody>
      </p:sp>
      <p:sp>
        <p:nvSpPr>
          <p:cNvPr id="1161566369" name="CaixaDeTexto 1161566368"/>
          <p:cNvSpPr txBox="1"/>
          <p:nvPr/>
        </p:nvSpPr>
        <p:spPr bwMode="auto">
          <a:xfrm>
            <a:off x="685800" y="2785971"/>
            <a:ext cx="212070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lang="pt-BR" dirty="0">
                <a:solidFill>
                  <a:srgbClr val="0070C0"/>
                </a:solidFill>
                <a:latin typeface="Times New Roman"/>
                <a:cs typeface="Times New Roman"/>
              </a:rPr>
              <a:t>print </a:t>
            </a:r>
            <a:r>
              <a:rPr lang="pt-BR" dirty="0">
                <a:latin typeface="Times New Roman"/>
                <a:cs typeface="Times New Roman"/>
              </a:rPr>
              <a:t>(</a:t>
            </a:r>
            <a:r>
              <a:rPr lang="pt-BR" dirty="0">
                <a:solidFill>
                  <a:srgbClr val="0070C0"/>
                </a:solidFill>
                <a:latin typeface="Times New Roman"/>
                <a:cs typeface="Times New Roman"/>
              </a:rPr>
              <a:t>2 </a:t>
            </a:r>
            <a:r>
              <a:rPr lang="pt-BR" dirty="0">
                <a:latin typeface="Times New Roman"/>
                <a:cs typeface="Times New Roman"/>
              </a:rPr>
              <a:t>+ </a:t>
            </a:r>
            <a:r>
              <a:rPr lang="pt-BR" dirty="0">
                <a:solidFill>
                  <a:srgbClr val="0070C0"/>
                </a:solidFill>
                <a:latin typeface="Times New Roman"/>
                <a:cs typeface="Times New Roman"/>
              </a:rPr>
              <a:t>5 </a:t>
            </a:r>
            <a:r>
              <a:rPr lang="pt-BR" dirty="0">
                <a:latin typeface="Times New Roman"/>
                <a:cs typeface="Times New Roman"/>
              </a:rPr>
              <a:t>* </a:t>
            </a:r>
            <a:r>
              <a:rPr lang="pt-BR" dirty="0">
                <a:solidFill>
                  <a:srgbClr val="0070C0"/>
                </a:solidFill>
                <a:latin typeface="Times New Roman"/>
                <a:cs typeface="Times New Roman"/>
              </a:rPr>
              <a:t>9</a:t>
            </a:r>
            <a:r>
              <a:rPr lang="pt-BR" dirty="0">
                <a:latin typeface="Times New Roman"/>
                <a:cs typeface="Times New Roman"/>
              </a:rPr>
              <a:t>)</a:t>
            </a:r>
            <a:endParaRPr dirty="0">
              <a:latin typeface="Times New Roman"/>
              <a:cs typeface="Times New Roman"/>
            </a:endParaRPr>
          </a:p>
        </p:txBody>
      </p:sp>
      <p:sp>
        <p:nvSpPr>
          <p:cNvPr id="2120542181" name="CaixaDeTexto 2120542180"/>
          <p:cNvSpPr txBox="1"/>
          <p:nvPr/>
        </p:nvSpPr>
        <p:spPr bwMode="auto">
          <a:xfrm>
            <a:off x="685800" y="4418527"/>
            <a:ext cx="2514431" cy="3577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lang="pt-BR" dirty="0">
                <a:solidFill>
                  <a:srgbClr val="0070C0"/>
                </a:solidFill>
                <a:latin typeface="Times New Roman"/>
                <a:cs typeface="Times New Roman"/>
              </a:rPr>
              <a:t>print </a:t>
            </a:r>
            <a:r>
              <a:rPr lang="pt-BR" dirty="0">
                <a:latin typeface="Times New Roman"/>
                <a:cs typeface="Times New Roman"/>
              </a:rPr>
              <a:t>( (</a:t>
            </a:r>
            <a:r>
              <a:rPr lang="pt-BR" dirty="0">
                <a:solidFill>
                  <a:srgbClr val="0070C0"/>
                </a:solidFill>
                <a:latin typeface="Times New Roman"/>
                <a:cs typeface="Times New Roman"/>
              </a:rPr>
              <a:t>2 </a:t>
            </a:r>
            <a:r>
              <a:rPr lang="pt-BR" dirty="0">
                <a:latin typeface="Times New Roman"/>
                <a:cs typeface="Times New Roman"/>
              </a:rPr>
              <a:t>+ </a:t>
            </a:r>
            <a:r>
              <a:rPr lang="pt-BR" dirty="0">
                <a:solidFill>
                  <a:srgbClr val="0070C0"/>
                </a:solidFill>
                <a:latin typeface="Times New Roman"/>
                <a:cs typeface="Times New Roman"/>
              </a:rPr>
              <a:t>5</a:t>
            </a:r>
            <a:r>
              <a:rPr lang="pt-BR" dirty="0">
                <a:latin typeface="Times New Roman"/>
                <a:cs typeface="Times New Roman"/>
              </a:rPr>
              <a:t>) * </a:t>
            </a:r>
            <a:r>
              <a:rPr lang="pt-BR" dirty="0">
                <a:solidFill>
                  <a:srgbClr val="0070C0"/>
                </a:solidFill>
                <a:latin typeface="Times New Roman"/>
                <a:cs typeface="Times New Roman"/>
              </a:rPr>
              <a:t>9</a:t>
            </a:r>
            <a:r>
              <a:rPr lang="pt-BR" dirty="0">
                <a:latin typeface="Times New Roman"/>
                <a:cs typeface="Times New Roman"/>
              </a:rPr>
              <a:t>)</a:t>
            </a:r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>
          <a:xfrm>
            <a:off x="685800" y="260648"/>
            <a:ext cx="7772400" cy="640112"/>
          </a:xfrm>
        </p:spPr>
        <p:txBody>
          <a:bodyPr/>
          <a:lstStyle/>
          <a:p>
            <a:pPr>
              <a:defRPr/>
            </a:pPr>
            <a:r>
              <a:rPr lang="pt-BR" dirty="0"/>
              <a:t>Número x Literal (String)</a:t>
            </a:r>
            <a:endParaRPr dirty="0"/>
          </a:p>
        </p:txBody>
      </p:sp>
      <p:sp>
        <p:nvSpPr>
          <p:cNvPr id="6" name="CaixaDeTexto 5"/>
          <p:cNvSpPr txBox="1"/>
          <p:nvPr/>
        </p:nvSpPr>
        <p:spPr bwMode="auto">
          <a:xfrm>
            <a:off x="1043608" y="2348880"/>
            <a:ext cx="49685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Saída: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  <a:defRPr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+ 5 * 9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aixaDeTexto 6"/>
          <p:cNvSpPr txBox="1"/>
          <p:nvPr/>
        </p:nvSpPr>
        <p:spPr bwMode="auto">
          <a:xfrm>
            <a:off x="1115616" y="4789601"/>
            <a:ext cx="49685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Saída: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  <a:defRPr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+ 5 * 9 = 47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3610404" name="CaixaDeTexto 993610403"/>
          <p:cNvSpPr txBox="1"/>
          <p:nvPr/>
        </p:nvSpPr>
        <p:spPr bwMode="auto">
          <a:xfrm>
            <a:off x="1115615" y="1808135"/>
            <a:ext cx="2035800" cy="38722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print(‘2 + 5 * 9’)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0788173" name="CaixaDeTexto 1180788172"/>
          <p:cNvSpPr txBox="1"/>
          <p:nvPr/>
        </p:nvSpPr>
        <p:spPr bwMode="auto">
          <a:xfrm>
            <a:off x="1115615" y="3890720"/>
            <a:ext cx="4020800" cy="6821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2000" b="0" i="0" u="none" strike="noStrike" cap="none" spc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print(‘2 + 5 * 9 = ’, 2 + 5 * 9)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017321"/>
              </p:ext>
            </p:extLst>
          </p:nvPr>
        </p:nvGraphicFramePr>
        <p:xfrm>
          <a:off x="685801" y="2348880"/>
          <a:ext cx="7774631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4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0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dirty="0"/>
                        <a:t>Passo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dirty="0"/>
                        <a:t>Expressão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dirty="0"/>
                        <a:t>1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dirty="0"/>
                        <a:t>2 + 2 – 2 * 2 + ( 2 – 2 * ( 2 + 2 ) )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148268"/>
              </p:ext>
            </p:extLst>
          </p:nvPr>
        </p:nvGraphicFramePr>
        <p:xfrm>
          <a:off x="685801" y="3212976"/>
          <a:ext cx="777463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4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0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/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/>
                        <a:t>2 + 2 – 2 * 2 + ( 2 – 2 * 4 )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656561"/>
              </p:ext>
            </p:extLst>
          </p:nvPr>
        </p:nvGraphicFramePr>
        <p:xfrm>
          <a:off x="685801" y="3645024"/>
          <a:ext cx="777463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4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0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dirty="0"/>
                        <a:t>2 + 2 – 2 * 2 + ( 2 – 8)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766207"/>
              </p:ext>
            </p:extLst>
          </p:nvPr>
        </p:nvGraphicFramePr>
        <p:xfrm>
          <a:off x="685801" y="4077072"/>
          <a:ext cx="777463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4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0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/>
                        <a:t>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/>
                        <a:t>2 + 2 – 2 * 2 - 6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e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63959"/>
              </p:ext>
            </p:extLst>
          </p:nvPr>
        </p:nvGraphicFramePr>
        <p:xfrm>
          <a:off x="685801" y="4509120"/>
          <a:ext cx="777463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4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0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/>
                        <a:t>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/>
                        <a:t>2 + 2 – 4 - 6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877868"/>
              </p:ext>
            </p:extLst>
          </p:nvPr>
        </p:nvGraphicFramePr>
        <p:xfrm>
          <a:off x="685801" y="5013175"/>
          <a:ext cx="7774631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4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0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/>
                        <a:t>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/>
                        <a:t>4 – 4 - 6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ela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212040"/>
              </p:ext>
            </p:extLst>
          </p:nvPr>
        </p:nvGraphicFramePr>
        <p:xfrm>
          <a:off x="685801" y="5517232"/>
          <a:ext cx="777463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4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0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/>
                        <a:t>7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/>
                        <a:t>0 – 6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365787"/>
              </p:ext>
            </p:extLst>
          </p:nvPr>
        </p:nvGraphicFramePr>
        <p:xfrm>
          <a:off x="685801" y="6082496"/>
          <a:ext cx="777463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4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0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/>
                        <a:t>8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/>
                        <a:t>- 6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03424734" name="CaixaDeTexto 2103424733"/>
          <p:cNvSpPr txBox="1"/>
          <p:nvPr/>
        </p:nvSpPr>
        <p:spPr bwMode="auto">
          <a:xfrm>
            <a:off x="323528" y="221561"/>
            <a:ext cx="8386504" cy="156677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pt-BR" sz="2000" b="0" i="0" u="none" strike="noStrike" cap="none" spc="0" dirty="0">
                <a:solidFill>
                  <a:srgbClr val="0070C0"/>
                </a:solidFill>
                <a:latin typeface="Times New Roman"/>
                <a:cs typeface="Times New Roman"/>
              </a:rPr>
              <a:t>Exercício 2-2: Quanto vale a expressão 2+2-2*2+(2-2*(2+2))?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pt-BR" sz="2000" b="0" i="0" u="none" strike="noStrike" cap="none" spc="0" dirty="0">
                <a:solidFill>
                  <a:srgbClr val="0070C0"/>
                </a:solidFill>
                <a:latin typeface="Times New Roman"/>
                <a:cs typeface="Times New Roman"/>
              </a:rPr>
              <a:t>Usando as regras de precedência que vimos até aqui calcule o resultado com lápis e papel.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pt-BR" sz="2000" b="0" i="0" u="none" strike="noStrike" cap="none" spc="0" dirty="0">
                <a:solidFill>
                  <a:srgbClr val="0070C0"/>
                </a:solidFill>
                <a:latin typeface="Times New Roman"/>
                <a:cs typeface="Times New Roman"/>
              </a:rPr>
              <a:t>Depois faça um programa Python e execute-o para verificar se </a:t>
            </a:r>
            <a:r>
              <a:rPr lang="pt-BR" sz="2000" dirty="0">
                <a:solidFill>
                  <a:srgbClr val="0070C0"/>
                </a:solidFill>
                <a:latin typeface="Times New Roman"/>
                <a:cs typeface="Times New Roman"/>
              </a:rPr>
              <a:t>o </a:t>
            </a:r>
            <a:r>
              <a:rPr lang="pt-BR" sz="2000" b="0" i="0" u="none" strike="noStrike" cap="none" spc="0" dirty="0">
                <a:solidFill>
                  <a:srgbClr val="0070C0"/>
                </a:solidFill>
                <a:latin typeface="Times New Roman"/>
                <a:cs typeface="Times New Roman"/>
              </a:rPr>
              <a:t>resultado estava correto.</a:t>
            </a:r>
            <a:endParaRPr lang="pt-BR" sz="2000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  <p:sp>
        <p:nvSpPr>
          <p:cNvPr id="504868048" name="CaixaDeTexto 504868047"/>
          <p:cNvSpPr txBox="1"/>
          <p:nvPr/>
        </p:nvSpPr>
        <p:spPr bwMode="auto">
          <a:xfrm>
            <a:off x="912965" y="1844824"/>
            <a:ext cx="570029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 dirty="0">
                <a:solidFill>
                  <a:srgbClr val="0070C0"/>
                </a:solidFill>
                <a:latin typeface="Rockwell"/>
                <a:cs typeface="Rockwell"/>
              </a:rPr>
              <a:t>print (2+2-2*2+ (2-2* (2+2) ) )</a:t>
            </a:r>
            <a:endParaRPr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pt-BR" dirty="0"/>
              <a:t>Expressões com números de ponto flutuante</a:t>
            </a:r>
            <a:endParaRPr dirty="0"/>
          </a:p>
        </p:txBody>
      </p:sp>
      <p:sp>
        <p:nvSpPr>
          <p:cNvPr id="5" name="Retângulo 4"/>
          <p:cNvSpPr/>
          <p:nvPr/>
        </p:nvSpPr>
        <p:spPr bwMode="auto">
          <a:xfrm>
            <a:off x="1732116" y="2905205"/>
            <a:ext cx="11432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pt-BR">
                <a:latin typeface="Calibri"/>
                <a:cs typeface="Times New Roman"/>
              </a:rPr>
              <a:t>Run + Run</a:t>
            </a:r>
            <a:endParaRPr lang="pt-BR"/>
          </a:p>
        </p:txBody>
      </p:sp>
      <p:sp>
        <p:nvSpPr>
          <p:cNvPr id="6" name="Seta: para Baixo 5"/>
          <p:cNvSpPr/>
          <p:nvPr/>
        </p:nvSpPr>
        <p:spPr bwMode="auto">
          <a:xfrm>
            <a:off x="2123727" y="2283992"/>
            <a:ext cx="360040" cy="369332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" name="Seta: para Baixo 6"/>
          <p:cNvSpPr/>
          <p:nvPr/>
        </p:nvSpPr>
        <p:spPr bwMode="auto">
          <a:xfrm>
            <a:off x="2123728" y="3478887"/>
            <a:ext cx="360040" cy="369332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9" name="Retângulo 8"/>
          <p:cNvSpPr/>
          <p:nvPr/>
        </p:nvSpPr>
        <p:spPr bwMode="auto">
          <a:xfrm>
            <a:off x="827584" y="4278150"/>
            <a:ext cx="7772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2400" dirty="0">
                <a:latin typeface="Calibri"/>
                <a:cs typeface="Times New Roman"/>
              </a:rPr>
              <a:t>		    2.4</a:t>
            </a:r>
          </a:p>
          <a:p>
            <a:pPr>
              <a:defRPr/>
            </a:pPr>
            <a:endParaRPr lang="pt-BR" sz="2400" dirty="0">
              <a:latin typeface="Calibri"/>
              <a:cs typeface="Times New Roman"/>
            </a:endParaRPr>
          </a:p>
          <a:p>
            <a:pPr>
              <a:defRPr/>
            </a:pPr>
            <a:r>
              <a:rPr lang="pt-BR" sz="2400" dirty="0">
                <a:latin typeface="Calibri"/>
                <a:cs typeface="Times New Roman"/>
              </a:rPr>
              <a:t>- Obs.: </a:t>
            </a:r>
          </a:p>
          <a:p>
            <a:pPr>
              <a:defRPr/>
            </a:pPr>
            <a:endParaRPr lang="pt-BR" sz="2400" dirty="0">
              <a:latin typeface="Calibri"/>
              <a:cs typeface="Times New Roman"/>
            </a:endParaRPr>
          </a:p>
          <a:p>
            <a:pPr>
              <a:defRPr/>
            </a:pPr>
            <a:r>
              <a:rPr lang="pt-BR" sz="2400" dirty="0">
                <a:latin typeface="Calibri"/>
                <a:cs typeface="Times New Roman"/>
              </a:rPr>
              <a:t>- As linguagens de programação usam notação americana com ponto decimal. </a:t>
            </a:r>
            <a:endParaRPr lang="pt-BR" sz="2400" dirty="0"/>
          </a:p>
        </p:txBody>
      </p:sp>
      <p:sp>
        <p:nvSpPr>
          <p:cNvPr id="42478588" name="CaixaDeTexto 42478587"/>
          <p:cNvSpPr txBox="1"/>
          <p:nvPr/>
        </p:nvSpPr>
        <p:spPr bwMode="auto">
          <a:xfrm>
            <a:off x="1631377" y="1628800"/>
            <a:ext cx="2577346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2200" dirty="0">
                <a:solidFill>
                  <a:srgbClr val="0070C0"/>
                </a:solidFill>
                <a:latin typeface="Times New Roman"/>
                <a:cs typeface="Times New Roman"/>
              </a:rPr>
              <a:t>print </a:t>
            </a:r>
            <a:r>
              <a:rPr lang="pt-BR" sz="2200" dirty="0">
                <a:solidFill>
                  <a:schemeClr val="tx1"/>
                </a:solidFill>
                <a:latin typeface="Times New Roman"/>
                <a:cs typeface="Times New Roman"/>
              </a:rPr>
              <a:t>(</a:t>
            </a:r>
            <a:r>
              <a:rPr lang="pt-BR" sz="2200" dirty="0">
                <a:solidFill>
                  <a:srgbClr val="0070C0"/>
                </a:solidFill>
                <a:latin typeface="Times New Roman"/>
                <a:cs typeface="Times New Roman"/>
              </a:rPr>
              <a:t>12</a:t>
            </a:r>
            <a:r>
              <a:rPr lang="pt-BR" sz="2200" dirty="0">
                <a:solidFill>
                  <a:schemeClr val="tx1"/>
                </a:solidFill>
                <a:latin typeface="Times New Roman"/>
                <a:cs typeface="Times New Roman"/>
              </a:rPr>
              <a:t>/</a:t>
            </a:r>
            <a:r>
              <a:rPr lang="pt-BR" sz="2200" dirty="0">
                <a:solidFill>
                  <a:srgbClr val="0070C0"/>
                </a:solidFill>
                <a:latin typeface="Times New Roman"/>
                <a:cs typeface="Times New Roman"/>
              </a:rPr>
              <a:t>5</a:t>
            </a:r>
            <a:r>
              <a:rPr lang="pt-BR" sz="2200" dirty="0">
                <a:solidFill>
                  <a:schemeClr val="tx1"/>
                </a:solidFill>
                <a:latin typeface="Times New Roman"/>
                <a:cs typeface="Times New Roman"/>
              </a:rPr>
              <a:t>)</a:t>
            </a:r>
            <a:endParaRPr sz="22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>
          <a:xfrm>
            <a:off x="685800" y="116632"/>
            <a:ext cx="7772400" cy="720080"/>
          </a:xfrm>
        </p:spPr>
        <p:txBody>
          <a:bodyPr/>
          <a:lstStyle/>
          <a:p>
            <a:pPr>
              <a:defRPr/>
            </a:pPr>
            <a:r>
              <a:rPr lang="pt-BR" dirty="0"/>
              <a:t>Ponto decimal (notação americana)</a:t>
            </a:r>
            <a:endParaRPr dirty="0"/>
          </a:p>
        </p:txBody>
      </p:sp>
      <p:sp>
        <p:nvSpPr>
          <p:cNvPr id="1045234572" name="Content Placeholder 2"/>
          <p:cNvSpPr>
            <a:spLocks noGrp="1"/>
          </p:cNvSpPr>
          <p:nvPr>
            <p:ph idx="1"/>
          </p:nvPr>
        </p:nvSpPr>
        <p:spPr bwMode="auto">
          <a:xfrm>
            <a:off x="1192088" y="1052736"/>
            <a:ext cx="7052320" cy="5008059"/>
          </a:xfrm>
        </p:spPr>
        <p:txBody>
          <a:bodyPr>
            <a:normAutofit/>
          </a:bodyPr>
          <a:lstStyle/>
          <a:p>
            <a:pPr marL="0" indent="0">
              <a:buClr>
                <a:schemeClr val="accent1">
                  <a:lumMod val="75000"/>
                </a:schemeClr>
              </a:buClr>
              <a:buSzPct val="85000"/>
              <a:buFont typeface="Wingdings"/>
              <a:buNone/>
              <a:defRPr/>
            </a:pPr>
            <a:r>
              <a:rPr lang="pt-BR" sz="2200" dirty="0">
                <a:solidFill>
                  <a:srgbClr val="0070C0"/>
                </a:solidFill>
                <a:latin typeface="Times New Roman"/>
                <a:cs typeface="Times New Roman"/>
              </a:rPr>
              <a:t>print</a:t>
            </a:r>
            <a:r>
              <a:rPr lang="pt-BR" sz="2200" dirty="0">
                <a:solidFill>
                  <a:schemeClr val="tx1"/>
                </a:solidFill>
                <a:latin typeface="Times New Roman"/>
                <a:cs typeface="Times New Roman"/>
              </a:rPr>
              <a:t>(</a:t>
            </a:r>
            <a:r>
              <a:rPr lang="pt-BR" sz="2200" dirty="0">
                <a:solidFill>
                  <a:srgbClr val="0070C0"/>
                </a:solidFill>
                <a:latin typeface="Times New Roman"/>
                <a:cs typeface="Times New Roman"/>
              </a:rPr>
              <a:t>12</a:t>
            </a:r>
            <a:r>
              <a:rPr lang="pt-BR" sz="2200" dirty="0">
                <a:solidFill>
                  <a:schemeClr val="tx1"/>
                </a:solidFill>
                <a:latin typeface="Times New Roman"/>
                <a:cs typeface="Times New Roman"/>
              </a:rPr>
              <a:t>.</a:t>
            </a:r>
            <a:r>
              <a:rPr lang="pt-BR" sz="2200" dirty="0">
                <a:solidFill>
                  <a:srgbClr val="0070C0"/>
                </a:solidFill>
                <a:latin typeface="Times New Roman"/>
                <a:cs typeface="Times New Roman"/>
              </a:rPr>
              <a:t>5</a:t>
            </a:r>
            <a:r>
              <a:rPr lang="pt-BR" sz="2200" dirty="0">
                <a:solidFill>
                  <a:schemeClr val="tx1"/>
                </a:solidFill>
                <a:latin typeface="Times New Roman"/>
                <a:cs typeface="Times New Roman"/>
              </a:rPr>
              <a:t>/</a:t>
            </a:r>
            <a:r>
              <a:rPr lang="pt-BR" sz="2200" dirty="0">
                <a:solidFill>
                  <a:srgbClr val="0070C0"/>
                </a:solidFill>
                <a:latin typeface="Times New Roman"/>
                <a:cs typeface="Times New Roman"/>
              </a:rPr>
              <a:t>4</a:t>
            </a:r>
            <a:r>
              <a:rPr lang="pt-BR" sz="2200" dirty="0">
                <a:solidFill>
                  <a:schemeClr val="tx1"/>
                </a:solidFill>
                <a:latin typeface="Times New Roman"/>
                <a:cs typeface="Times New Roman"/>
              </a:rPr>
              <a:t>)</a:t>
            </a:r>
            <a:endParaRPr sz="22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Clr>
                <a:schemeClr val="accent1">
                  <a:lumMod val="75000"/>
                </a:schemeClr>
              </a:buClr>
              <a:buSzPct val="85000"/>
              <a:buFont typeface="Wingdings"/>
              <a:buNone/>
              <a:defRPr/>
            </a:pPr>
            <a:endParaRPr lang="pt-BR" sz="2200" dirty="0">
              <a:solidFill>
                <a:srgbClr val="0070C0"/>
              </a:solidFill>
              <a:latin typeface="Times New Roman"/>
              <a:cs typeface="Times New Roman"/>
            </a:endParaRPr>
          </a:p>
          <a:p>
            <a:pPr>
              <a:buFontTx/>
              <a:buChar char="-"/>
              <a:defRPr/>
            </a:pPr>
            <a:r>
              <a:rPr lang="pt-BR" sz="2200" dirty="0">
                <a:solidFill>
                  <a:srgbClr val="0070C0"/>
                </a:solidFill>
                <a:latin typeface="Times New Roman"/>
                <a:cs typeface="Times New Roman"/>
              </a:rPr>
              <a:t>Qual a saída?</a:t>
            </a:r>
          </a:p>
          <a:p>
            <a:pPr marL="0" indent="0">
              <a:buNone/>
              <a:defRPr/>
            </a:pPr>
            <a:r>
              <a:rPr lang="pt-BR" sz="2200" dirty="0">
                <a:solidFill>
                  <a:srgbClr val="0070C0"/>
                </a:solidFill>
                <a:latin typeface="Times New Roman"/>
                <a:cs typeface="Times New Roman"/>
              </a:rPr>
              <a:t>   3.125</a:t>
            </a:r>
          </a:p>
          <a:p>
            <a:pPr marL="0" indent="0">
              <a:buClr>
                <a:schemeClr val="accent1">
                  <a:lumMod val="75000"/>
                </a:schemeClr>
              </a:buClr>
              <a:buSzPct val="85000"/>
              <a:buFont typeface="Wingdings"/>
              <a:buNone/>
              <a:defRPr/>
            </a:pPr>
            <a:endParaRPr lang="pt-BR" sz="2200" dirty="0">
              <a:solidFill>
                <a:srgbClr val="0070C0"/>
              </a:solidFill>
              <a:latin typeface="Times New Roman"/>
              <a:cs typeface="Times New Roman"/>
            </a:endParaRPr>
          </a:p>
          <a:p>
            <a:pPr marL="0" indent="0">
              <a:buClr>
                <a:schemeClr val="accent1">
                  <a:lumMod val="75000"/>
                </a:schemeClr>
              </a:buClr>
              <a:buSzPct val="85000"/>
              <a:buFont typeface="Wingdings"/>
              <a:buNone/>
              <a:defRPr/>
            </a:pPr>
            <a:endParaRPr sz="2200" dirty="0">
              <a:solidFill>
                <a:srgbClr val="0070C0"/>
              </a:solidFill>
              <a:latin typeface="Times New Roman"/>
              <a:cs typeface="Times New Roman"/>
            </a:endParaRPr>
          </a:p>
          <a:p>
            <a:pPr marL="0" indent="0">
              <a:buClr>
                <a:schemeClr val="accent1">
                  <a:lumMod val="75000"/>
                </a:schemeClr>
              </a:buClr>
              <a:buSzPct val="85000"/>
              <a:buFont typeface="Wingdings"/>
              <a:buNone/>
              <a:defRPr/>
            </a:pPr>
            <a:r>
              <a:rPr lang="pt-BR" sz="2200" dirty="0">
                <a:solidFill>
                  <a:srgbClr val="0070C0"/>
                </a:solidFill>
                <a:latin typeface="Times New Roman"/>
                <a:cs typeface="Times New Roman"/>
              </a:rPr>
              <a:t>print</a:t>
            </a:r>
            <a:r>
              <a:rPr lang="pt-BR" sz="2200" dirty="0">
                <a:solidFill>
                  <a:schemeClr val="tx1"/>
                </a:solidFill>
                <a:latin typeface="Times New Roman"/>
                <a:cs typeface="Times New Roman"/>
              </a:rPr>
              <a:t>(</a:t>
            </a:r>
            <a:r>
              <a:rPr lang="pt-BR" sz="2200" dirty="0">
                <a:solidFill>
                  <a:srgbClr val="0070C0"/>
                </a:solidFill>
                <a:latin typeface="Times New Roman"/>
                <a:cs typeface="Times New Roman"/>
              </a:rPr>
              <a:t>12</a:t>
            </a:r>
            <a:r>
              <a:rPr lang="pt-BR" sz="2200" dirty="0">
                <a:solidFill>
                  <a:schemeClr val="tx1"/>
                </a:solidFill>
                <a:latin typeface="Times New Roman"/>
                <a:cs typeface="Times New Roman"/>
              </a:rPr>
              <a:t>, </a:t>
            </a:r>
            <a:r>
              <a:rPr lang="pt-BR" sz="2200" dirty="0">
                <a:solidFill>
                  <a:srgbClr val="0070C0"/>
                </a:solidFill>
                <a:latin typeface="Times New Roman"/>
                <a:cs typeface="Times New Roman"/>
              </a:rPr>
              <a:t>5</a:t>
            </a:r>
            <a:r>
              <a:rPr lang="pt-BR" sz="2200" dirty="0">
                <a:solidFill>
                  <a:schemeClr val="tx1"/>
                </a:solidFill>
                <a:latin typeface="Times New Roman"/>
                <a:cs typeface="Times New Roman"/>
              </a:rPr>
              <a:t>/</a:t>
            </a:r>
            <a:r>
              <a:rPr lang="pt-BR" sz="2200" dirty="0">
                <a:solidFill>
                  <a:srgbClr val="0070C0"/>
                </a:solidFill>
                <a:latin typeface="Times New Roman"/>
                <a:cs typeface="Times New Roman"/>
              </a:rPr>
              <a:t>4</a:t>
            </a:r>
            <a:r>
              <a:rPr lang="pt-BR" sz="2200" dirty="0">
                <a:solidFill>
                  <a:schemeClr val="tx1"/>
                </a:solidFill>
                <a:latin typeface="Times New Roman"/>
                <a:cs typeface="Times New Roman"/>
              </a:rPr>
              <a:t>)</a:t>
            </a:r>
          </a:p>
          <a:p>
            <a:pPr marL="0" indent="0">
              <a:buClr>
                <a:schemeClr val="accent1">
                  <a:lumMod val="75000"/>
                </a:schemeClr>
              </a:buClr>
              <a:buSzPct val="85000"/>
              <a:buFont typeface="Wingdings"/>
              <a:buNone/>
              <a:defRPr/>
            </a:pPr>
            <a:endParaRPr lang="pt-BR" sz="2200" dirty="0">
              <a:latin typeface="Times New Roman"/>
              <a:cs typeface="Times New Roman"/>
            </a:endParaRPr>
          </a:p>
          <a:p>
            <a:pPr>
              <a:buFontTx/>
              <a:buChar char="-"/>
              <a:defRPr/>
            </a:pPr>
            <a:r>
              <a:rPr lang="pt-BR" sz="2200" dirty="0">
                <a:solidFill>
                  <a:srgbClr val="0070C0"/>
                </a:solidFill>
                <a:latin typeface="Times New Roman"/>
                <a:cs typeface="Times New Roman"/>
              </a:rPr>
              <a:t>Qual a saída?</a:t>
            </a:r>
          </a:p>
          <a:p>
            <a:pPr>
              <a:buClr>
                <a:schemeClr val="accent1">
                  <a:lumMod val="75000"/>
                </a:schemeClr>
              </a:buClr>
              <a:buSzPct val="85000"/>
              <a:buFontTx/>
              <a:buChar char="-"/>
              <a:defRPr/>
            </a:pPr>
            <a:endParaRPr lang="pt-BR" sz="2200" dirty="0">
              <a:solidFill>
                <a:srgbClr val="0070C0"/>
              </a:solidFill>
              <a:latin typeface="Times New Roman"/>
              <a:cs typeface="Times New Roman"/>
            </a:endParaRPr>
          </a:p>
          <a:p>
            <a:pPr marL="0" indent="0">
              <a:buClr>
                <a:schemeClr val="accent1">
                  <a:lumMod val="75000"/>
                </a:schemeClr>
              </a:buClr>
              <a:buSzPct val="85000"/>
              <a:buNone/>
              <a:defRPr/>
            </a:pPr>
            <a:r>
              <a:rPr lang="pt-BR" sz="2200" dirty="0">
                <a:solidFill>
                  <a:srgbClr val="0070C0"/>
                </a:solidFill>
                <a:latin typeface="Times New Roman"/>
                <a:cs typeface="Times New Roman"/>
              </a:rPr>
              <a:t>   12 1.25</a:t>
            </a:r>
            <a:endParaRPr sz="2200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234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2345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2345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23457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Aproximação</a:t>
            </a:r>
            <a:endParaRPr/>
          </a:p>
        </p:txBody>
      </p:sp>
      <p:sp>
        <p:nvSpPr>
          <p:cNvPr id="5" name="Retângulo 4"/>
          <p:cNvSpPr/>
          <p:nvPr/>
        </p:nvSpPr>
        <p:spPr bwMode="auto">
          <a:xfrm>
            <a:off x="1907704" y="3129978"/>
            <a:ext cx="11432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pt-BR">
                <a:latin typeface="Calibri"/>
                <a:cs typeface="Times New Roman"/>
              </a:rPr>
              <a:t>Run + Run</a:t>
            </a:r>
            <a:endParaRPr lang="pt-BR"/>
          </a:p>
        </p:txBody>
      </p:sp>
      <p:sp>
        <p:nvSpPr>
          <p:cNvPr id="6" name="Seta: para Baixo 5"/>
          <p:cNvSpPr/>
          <p:nvPr/>
        </p:nvSpPr>
        <p:spPr bwMode="auto">
          <a:xfrm>
            <a:off x="2123728" y="2693432"/>
            <a:ext cx="360040" cy="369332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" name="Seta: para Baixo 6"/>
          <p:cNvSpPr/>
          <p:nvPr/>
        </p:nvSpPr>
        <p:spPr bwMode="auto">
          <a:xfrm>
            <a:off x="2123728" y="3703660"/>
            <a:ext cx="360040" cy="369332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9" name="CaixaDeTexto 8"/>
          <p:cNvSpPr txBox="1"/>
          <p:nvPr/>
        </p:nvSpPr>
        <p:spPr bwMode="auto">
          <a:xfrm>
            <a:off x="4716016" y="4371357"/>
            <a:ext cx="2480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pt-BR"/>
              <a:t>+/- 16 casas decimais</a:t>
            </a:r>
            <a:endParaRPr/>
          </a:p>
        </p:txBody>
      </p:sp>
      <p:sp>
        <p:nvSpPr>
          <p:cNvPr id="899257058" name="CaixaDeTexto 899257057"/>
          <p:cNvSpPr txBox="1"/>
          <p:nvPr/>
        </p:nvSpPr>
        <p:spPr bwMode="auto">
          <a:xfrm>
            <a:off x="1268135" y="4371356"/>
            <a:ext cx="398023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 dirty="0">
                <a:solidFill>
                  <a:schemeClr val="tx1"/>
                </a:solidFill>
                <a:latin typeface="Rockwell"/>
                <a:cs typeface="Rockwell"/>
              </a:rPr>
              <a:t>0.6666666666666666</a:t>
            </a:r>
            <a:endParaRPr dirty="0"/>
          </a:p>
        </p:txBody>
      </p:sp>
      <p:sp>
        <p:nvSpPr>
          <p:cNvPr id="2013877816" name="CaixaDeTexto 2013877815"/>
          <p:cNvSpPr txBox="1"/>
          <p:nvPr/>
        </p:nvSpPr>
        <p:spPr bwMode="auto">
          <a:xfrm>
            <a:off x="1645215" y="2060848"/>
            <a:ext cx="1668598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2000" b="1" i="0" dirty="0">
                <a:latin typeface="Times New Roman"/>
                <a:cs typeface="Times New Roman"/>
              </a:rPr>
              <a:t>print (2/3)</a:t>
            </a:r>
            <a:endParaRPr sz="2000" b="1" i="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pt-BR"/>
              <a:t>Divisão sempre produz número de ponto flutuante</a:t>
            </a:r>
            <a:endParaRPr/>
          </a:p>
        </p:txBody>
      </p:sp>
      <p:sp>
        <p:nvSpPr>
          <p:cNvPr id="5" name="Retângulo 4"/>
          <p:cNvSpPr/>
          <p:nvPr/>
        </p:nvSpPr>
        <p:spPr bwMode="auto">
          <a:xfrm>
            <a:off x="1907704" y="3496214"/>
            <a:ext cx="13131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sz="2000">
                <a:latin typeface="Times New Roman" panose="02020603050405020304" pitchFamily="18" charset="0"/>
                <a:cs typeface="Times New Roman" panose="02020603050405020304" pitchFamily="18" charset="0"/>
              </a:rPr>
              <a:t>Run + Run</a:t>
            </a:r>
          </a:p>
        </p:txBody>
      </p:sp>
      <p:sp>
        <p:nvSpPr>
          <p:cNvPr id="6" name="Seta: para Baixo 5"/>
          <p:cNvSpPr/>
          <p:nvPr/>
        </p:nvSpPr>
        <p:spPr bwMode="auto">
          <a:xfrm>
            <a:off x="2123728" y="3059668"/>
            <a:ext cx="360040" cy="369332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eta: para Baixo 6"/>
          <p:cNvSpPr/>
          <p:nvPr/>
        </p:nvSpPr>
        <p:spPr bwMode="auto">
          <a:xfrm>
            <a:off x="2123728" y="4069896"/>
            <a:ext cx="360040" cy="369332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0617430" name="CaixaDeTexto 360617429"/>
          <p:cNvSpPr txBox="1"/>
          <p:nvPr/>
        </p:nvSpPr>
        <p:spPr bwMode="auto">
          <a:xfrm>
            <a:off x="1663736" y="2445825"/>
            <a:ext cx="1640062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2000" b="1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print(10/2)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9162801" name="CaixaDeTexto 1629162800"/>
          <p:cNvSpPr txBox="1"/>
          <p:nvPr/>
        </p:nvSpPr>
        <p:spPr bwMode="auto">
          <a:xfrm>
            <a:off x="1997655" y="4657562"/>
            <a:ext cx="612183" cy="38722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5.0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162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 bwMode="auto">
          <a:xfrm>
            <a:off x="827584" y="3212976"/>
            <a:ext cx="64087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dirty="0"/>
              <a:t>- Resolva com estes valores para o peso e a altura:</a:t>
            </a:r>
            <a:endParaRPr dirty="0"/>
          </a:p>
          <a:p>
            <a:pPr>
              <a:defRPr/>
            </a:pPr>
            <a:endParaRPr lang="pt-BR" dirty="0"/>
          </a:p>
          <a:p>
            <a:pPr>
              <a:defRPr/>
            </a:pPr>
            <a:r>
              <a:rPr lang="pt-BR" dirty="0"/>
              <a:t>Peso = 83 Kg</a:t>
            </a:r>
            <a:endParaRPr dirty="0"/>
          </a:p>
          <a:p>
            <a:pPr>
              <a:defRPr/>
            </a:pPr>
            <a:endParaRPr lang="pt-BR" dirty="0"/>
          </a:p>
          <a:p>
            <a:pPr>
              <a:defRPr/>
            </a:pPr>
            <a:r>
              <a:rPr lang="pt-BR" dirty="0"/>
              <a:t>Altura = 1.79 m</a:t>
            </a:r>
            <a:endParaRPr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3782395-844C-45AA-BB49-066814766488}"/>
              </a:ext>
            </a:extLst>
          </p:cNvPr>
          <p:cNvSpPr txBox="1"/>
          <p:nvPr/>
        </p:nvSpPr>
        <p:spPr bwMode="auto">
          <a:xfrm>
            <a:off x="182699" y="116632"/>
            <a:ext cx="8709781" cy="2451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2000" b="0" i="0" u="none" strike="noStrike" cap="none" spc="0" dirty="0">
                <a:solidFill>
                  <a:srgbClr val="0070C0"/>
                </a:solidFill>
                <a:latin typeface="Times New Roman"/>
                <a:cs typeface="Times New Roman"/>
              </a:rPr>
              <a:t>- Exercício 2-3: Escreva um programa que imprima o valor do seu índice de massa corporal (IMC) em kg, lembre-se que o IMC é calculado pela fórmula , onde o peso é dado em quilos e a altura em metros, </a:t>
            </a:r>
          </a:p>
          <a:p>
            <a:pPr>
              <a:defRPr/>
            </a:pPr>
            <a:r>
              <a:rPr lang="pt-BR" sz="2000" b="0" i="0" u="none" strike="noStrike" cap="none" spc="0" dirty="0">
                <a:solidFill>
                  <a:srgbClr val="0070C0"/>
                </a:solidFill>
                <a:latin typeface="Times New Roman"/>
                <a:cs typeface="Times New Roman"/>
              </a:rPr>
              <a:t>- Dica:</a:t>
            </a:r>
          </a:p>
          <a:p>
            <a:pPr>
              <a:defRPr/>
            </a:pPr>
            <a:r>
              <a:rPr lang="pt-BR" sz="2000" b="0" i="0" u="none" strike="noStrike" cap="none" spc="0" dirty="0">
                <a:solidFill>
                  <a:srgbClr val="0070C0"/>
                </a:solidFill>
                <a:latin typeface="Times New Roman"/>
                <a:cs typeface="Times New Roman"/>
              </a:rPr>
              <a:t>Numerador = peso</a:t>
            </a:r>
          </a:p>
          <a:p>
            <a:pPr>
              <a:defRPr/>
            </a:pPr>
            <a:r>
              <a:rPr lang="pt-BR" sz="2000" dirty="0">
                <a:solidFill>
                  <a:srgbClr val="0070C0"/>
                </a:solidFill>
                <a:latin typeface="Times New Roman"/>
                <a:cs typeface="Times New Roman"/>
              </a:rPr>
              <a:t>Denominador = altura * altura</a:t>
            </a:r>
            <a:endParaRPr lang="pt-BR" sz="2000" b="0" i="0" u="none" strike="noStrike" cap="none" spc="0" dirty="0">
              <a:solidFill>
                <a:srgbClr val="0070C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pt-BR" sz="2000" b="0" i="0" u="none" strike="noStrike" cap="none" spc="0" dirty="0">
                <a:solidFill>
                  <a:srgbClr val="0070C0"/>
                </a:solidFill>
                <a:latin typeface="Times New Roman"/>
                <a:cs typeface="Times New Roman"/>
              </a:rPr>
              <a:t>É o peso dividido pela altura ao quadrado.</a:t>
            </a:r>
          </a:p>
          <a:p>
            <a:pPr>
              <a:defRPr/>
            </a:pPr>
            <a:r>
              <a:rPr lang="pt-BR" sz="2000" b="0" i="0" u="none" strike="noStrike" cap="none" spc="0" dirty="0">
                <a:solidFill>
                  <a:srgbClr val="0070C0"/>
                </a:solidFill>
                <a:latin typeface="Times New Roman"/>
                <a:cs typeface="Times New Roman"/>
              </a:rPr>
              <a:t>Para calcular potência, use a expressão x * x, ou seja, altura * altura.</a:t>
            </a:r>
            <a:endParaRPr lang="pt-BR" sz="2000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E0A6FB1-99DC-4FF4-8624-01CC03B21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444209" y="836711"/>
            <a:ext cx="2304256" cy="130961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9928650" name="Content Placeholder 2"/>
          <p:cNvSpPr>
            <a:spLocks noGrp="1"/>
          </p:cNvSpPr>
          <p:nvPr>
            <p:ph idx="1"/>
          </p:nvPr>
        </p:nvSpPr>
        <p:spPr bwMode="auto">
          <a:xfrm>
            <a:off x="539552" y="3806397"/>
            <a:ext cx="8016678" cy="300697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 fontScale="72500" lnSpcReduction="20000"/>
          </a:bodyPr>
          <a:lstStyle/>
          <a:p>
            <a:pPr marL="0" indent="0" algn="just">
              <a:buClr>
                <a:schemeClr val="accent1">
                  <a:lumMod val="75000"/>
                </a:schemeClr>
              </a:buClr>
              <a:buSzPct val="85000"/>
              <a:buFont typeface="Wingdings"/>
              <a:buNone/>
              <a:defRPr/>
            </a:pPr>
            <a:r>
              <a:rPr lang="pt-BR" sz="2200" b="0" i="0" u="none" strike="noStrike" cap="none" spc="0" dirty="0">
                <a:solidFill>
                  <a:schemeClr val="tx1"/>
                </a:solidFill>
                <a:latin typeface="Times New Roman"/>
                <a:cs typeface="Times New Roman"/>
              </a:rPr>
              <a:t>1. </a:t>
            </a:r>
            <a:r>
              <a:rPr lang="pt-BR" sz="2200" b="0" i="0" u="none" strike="noStrike" cap="none" spc="0" dirty="0">
                <a:solidFill>
                  <a:schemeClr val="tx1"/>
                </a:solidFill>
                <a:latin typeface="Times New Roman"/>
                <a:ea typeface="Rockwell"/>
                <a:cs typeface="Times New Roman"/>
              </a:rPr>
              <a:t>Esquecer que a divisão e multiplicação têm ambos a mesma precedência e que são</a:t>
            </a:r>
            <a:endParaRPr lang="pt-BR" sz="2200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Clr>
                <a:schemeClr val="accent1">
                  <a:lumMod val="75000"/>
                </a:schemeClr>
              </a:buClr>
              <a:buSzPct val="85000"/>
              <a:buFont typeface="Wingdings"/>
              <a:buNone/>
              <a:defRPr/>
            </a:pPr>
            <a:r>
              <a:rPr lang="pt-BR" sz="2200" b="0" i="0" u="none" strike="noStrike" cap="none" spc="0" dirty="0">
                <a:solidFill>
                  <a:schemeClr val="tx1"/>
                </a:solidFill>
                <a:latin typeface="Times New Roman"/>
                <a:ea typeface="Rockwell"/>
                <a:cs typeface="Times New Roman"/>
              </a:rPr>
              <a:t>executados da esquerda para a direita. Assim, se você esquecer os parênteses e</a:t>
            </a:r>
            <a:endParaRPr lang="pt-BR" sz="2200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Clr>
                <a:schemeClr val="accent1">
                  <a:lumMod val="75000"/>
                </a:schemeClr>
              </a:buClr>
              <a:buSzPct val="85000"/>
              <a:buFont typeface="Wingdings"/>
              <a:buNone/>
              <a:defRPr/>
            </a:pPr>
            <a:r>
              <a:rPr lang="pt-BR" sz="2200" b="0" i="0" u="none" strike="noStrike" cap="none" spc="0" dirty="0">
                <a:solidFill>
                  <a:schemeClr val="tx1"/>
                </a:solidFill>
                <a:latin typeface="Times New Roman"/>
                <a:ea typeface="Rockwell"/>
                <a:cs typeface="Times New Roman"/>
              </a:rPr>
              <a:t>escrever print(83/1.79*1.79) vai obter como resultado 83, ou seja, o peso original, já</a:t>
            </a:r>
            <a:endParaRPr lang="pt-BR" sz="2200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Clr>
                <a:schemeClr val="accent1">
                  <a:lumMod val="75000"/>
                </a:schemeClr>
              </a:buClr>
              <a:buSzPct val="85000"/>
              <a:buFont typeface="Wingdings"/>
              <a:buNone/>
              <a:defRPr/>
            </a:pPr>
            <a:r>
              <a:rPr lang="pt-BR" sz="2200" b="0" i="0" u="none" strike="noStrike" cap="none" spc="0" dirty="0">
                <a:solidFill>
                  <a:schemeClr val="tx1"/>
                </a:solidFill>
                <a:latin typeface="Times New Roman"/>
                <a:ea typeface="Rockwell"/>
                <a:cs typeface="Times New Roman"/>
              </a:rPr>
              <a:t>que ele será primeiro dividido pela altura e depois multiplicado pela altura novamente.</a:t>
            </a:r>
            <a:endParaRPr lang="pt-BR" sz="2200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 algn="just">
              <a:defRPr/>
            </a:pPr>
            <a:endParaRPr lang="pt-BR" sz="2400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Clr>
                <a:schemeClr val="accent1">
                  <a:lumMod val="75000"/>
                </a:schemeClr>
              </a:buClr>
              <a:buSzPct val="85000"/>
              <a:buFont typeface="Wingdings"/>
              <a:buNone/>
              <a:defRPr/>
            </a:pPr>
            <a:r>
              <a:rPr lang="pt-BR" sz="2400" b="0" i="0" u="none" strike="noStrike" cap="none" spc="0" dirty="0">
                <a:solidFill>
                  <a:schemeClr val="tx1"/>
                </a:solidFill>
                <a:latin typeface="Times New Roman"/>
                <a:cs typeface="Times New Roman"/>
              </a:rPr>
              <a:t>2.</a:t>
            </a:r>
            <a:r>
              <a:rPr lang="pt-BR" sz="2400" b="0" i="0" u="none" strike="noStrike" cap="none" spc="0" dirty="0">
                <a:solidFill>
                  <a:schemeClr val="tx1"/>
                </a:solidFill>
                <a:latin typeface="Times New Roman"/>
                <a:ea typeface="Rockwell"/>
                <a:cs typeface="Times New Roman"/>
              </a:rPr>
              <a:t>Trocar o ponto decimal por vírgula, como em print(83/(1,79*1,79)) ou</a:t>
            </a:r>
            <a:endParaRPr lang="pt-BR" sz="2400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Clr>
                <a:schemeClr val="accent1">
                  <a:lumMod val="75000"/>
                </a:schemeClr>
              </a:buClr>
              <a:buSzPct val="85000"/>
              <a:buFont typeface="Wingdings"/>
              <a:buNone/>
              <a:defRPr/>
            </a:pPr>
            <a:r>
              <a:rPr lang="pt-BR" sz="2400" b="0" i="0" u="none" strike="noStrike" cap="none" spc="0" dirty="0">
                <a:solidFill>
                  <a:schemeClr val="tx1"/>
                </a:solidFill>
                <a:latin typeface="Times New Roman"/>
                <a:ea typeface="Rockwell"/>
                <a:cs typeface="Times New Roman"/>
              </a:rPr>
              <a:t>print(83/1,79*1,79). No primeiro caso, o programa dará erro pois as vírgulas estão</a:t>
            </a:r>
            <a:endParaRPr lang="pt-BR" sz="2400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Clr>
                <a:schemeClr val="accent1">
                  <a:lumMod val="75000"/>
                </a:schemeClr>
              </a:buClr>
              <a:buSzPct val="85000"/>
              <a:buFont typeface="Wingdings"/>
              <a:buNone/>
              <a:defRPr/>
            </a:pPr>
            <a:r>
              <a:rPr lang="pt-BR" sz="2400" b="0" i="0" u="none" strike="noStrike" cap="none" spc="0" dirty="0">
                <a:solidFill>
                  <a:schemeClr val="tx1"/>
                </a:solidFill>
                <a:latin typeface="Times New Roman"/>
                <a:ea typeface="Rockwell"/>
                <a:cs typeface="Times New Roman"/>
              </a:rPr>
              <a:t>dentro dos parênteses da expressão numérica e não separando argumentos. No</a:t>
            </a:r>
            <a:endParaRPr lang="pt-BR" sz="2400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Clr>
                <a:schemeClr val="accent1">
                  <a:lumMod val="75000"/>
                </a:schemeClr>
              </a:buClr>
              <a:buSzPct val="85000"/>
              <a:buFont typeface="Wingdings"/>
              <a:buNone/>
              <a:defRPr/>
            </a:pPr>
            <a:r>
              <a:rPr lang="pt-BR" sz="2400" b="0" i="0" u="none" strike="noStrike" cap="none" spc="0" dirty="0">
                <a:solidFill>
                  <a:schemeClr val="tx1"/>
                </a:solidFill>
                <a:latin typeface="Times New Roman"/>
                <a:ea typeface="Rockwell"/>
                <a:cs typeface="Times New Roman"/>
              </a:rPr>
              <a:t>segundo caso o resultado seria 83.0 79 79, ou seja, 83/1, 79* I e 79,</a:t>
            </a:r>
            <a:endParaRPr lang="pt-BR" sz="2400" dirty="0">
              <a:latin typeface="Times New Roman"/>
              <a:cs typeface="Times New Roman"/>
            </a:endParaRPr>
          </a:p>
        </p:txBody>
      </p:sp>
      <p:sp>
        <p:nvSpPr>
          <p:cNvPr id="1677148735" name="CaixaDeTexto 1677148734"/>
          <p:cNvSpPr txBox="1"/>
          <p:nvPr/>
        </p:nvSpPr>
        <p:spPr bwMode="auto">
          <a:xfrm>
            <a:off x="758157" y="3460745"/>
            <a:ext cx="4941524" cy="32829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0" indent="0" algn="just">
              <a:buClr>
                <a:schemeClr val="accent1">
                  <a:lumMod val="75000"/>
                </a:schemeClr>
              </a:buClr>
              <a:buSzPct val="85000"/>
              <a:buFont typeface="Wingdings"/>
              <a:buNone/>
              <a:defRPr/>
            </a:pPr>
            <a:r>
              <a:rPr lang="pt-BR" sz="1600" b="0" i="0" u="none" strike="noStrike" cap="none" spc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- Erros comuns que você pode ter cometido:</a:t>
            </a:r>
            <a:endParaRPr lang="pt-BR" sz="1600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296079809" name="CaixaDeTexto 1296079808"/>
          <p:cNvSpPr txBox="1"/>
          <p:nvPr/>
        </p:nvSpPr>
        <p:spPr bwMode="auto">
          <a:xfrm>
            <a:off x="669365" y="2432695"/>
            <a:ext cx="7503036" cy="56425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1600" b="0" i="0" u="none" strike="noStrike" cap="none" spc="0" dirty="0">
                <a:solidFill>
                  <a:schemeClr val="tx1"/>
                </a:solidFill>
                <a:latin typeface="Times New Roman"/>
                <a:cs typeface="Times New Roman"/>
              </a:rPr>
              <a:t>Supondo que seu peso seja 83 kg e sua altura 1.79m, o programa a seguir vai informar que seu IMC é igual a 25.90431010268094: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2012109684" name="CaixaDeTexto 2012109683"/>
          <p:cNvSpPr txBox="1"/>
          <p:nvPr/>
        </p:nvSpPr>
        <p:spPr bwMode="auto">
          <a:xfrm>
            <a:off x="755576" y="3093361"/>
            <a:ext cx="687398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1600" b="0" i="0" u="none" strike="noStrike" cap="none" spc="0" dirty="0">
                <a:solidFill>
                  <a:srgbClr val="0070C0"/>
                </a:solidFill>
                <a:latin typeface="Times New Roman"/>
                <a:cs typeface="Times New Roman"/>
              </a:rPr>
              <a:t>print (83/ (1.79</a:t>
            </a:r>
            <a:r>
              <a:rPr lang="pt-BR" sz="1600" b="0" i="0" u="none" strike="noStrike" cap="none" spc="0" dirty="0">
                <a:solidFill>
                  <a:schemeClr val="tx1"/>
                </a:solidFill>
                <a:latin typeface="Times New Roman"/>
                <a:cs typeface="Times New Roman"/>
              </a:rPr>
              <a:t>*</a:t>
            </a:r>
            <a:r>
              <a:rPr lang="en-US" sz="1600" b="0" i="0" u="none" strike="noStrike" cap="none" spc="0" dirty="0">
                <a:solidFill>
                  <a:srgbClr val="0070C0"/>
                </a:solidFill>
                <a:latin typeface="Times New Roman"/>
                <a:cs typeface="Times New Roman"/>
              </a:rPr>
              <a:t>1.79)</a:t>
            </a:r>
            <a:r>
              <a:rPr lang="pt-BR" sz="1600" b="0" i="0" u="none" strike="noStrike" cap="none" spc="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lang="en-US" sz="1600" b="0" i="0" u="none" strike="noStrike" cap="none" spc="0" dirty="0">
                <a:solidFill>
                  <a:srgbClr val="0070C0"/>
                </a:solidFill>
                <a:latin typeface="Times New Roman"/>
                <a:cs typeface="Times New Roman"/>
              </a:rPr>
              <a:t>)</a:t>
            </a:r>
            <a:endParaRPr sz="1600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31E9AE3-C3D2-40AE-9FAB-A2F28FE6CB92}"/>
              </a:ext>
            </a:extLst>
          </p:cNvPr>
          <p:cNvSpPr txBox="1"/>
          <p:nvPr/>
        </p:nvSpPr>
        <p:spPr bwMode="auto">
          <a:xfrm>
            <a:off x="182699" y="44624"/>
            <a:ext cx="8709781" cy="2451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2000" b="0" i="0" u="none" strike="noStrike" cap="none" spc="0" dirty="0">
                <a:solidFill>
                  <a:srgbClr val="0070C0"/>
                </a:solidFill>
                <a:latin typeface="Times New Roman"/>
                <a:cs typeface="Times New Roman"/>
              </a:rPr>
              <a:t>- Exercício 2-3: Escreva um programa que imprima o valor do seu índice de massa corporal (IMC) em kg, lembre-se que o IMC é calculado pela fórmula , onde o peso é dado em quilos e a altura em metros, </a:t>
            </a:r>
          </a:p>
          <a:p>
            <a:pPr>
              <a:defRPr/>
            </a:pPr>
            <a:r>
              <a:rPr lang="pt-BR" sz="2000" b="0" i="0" u="none" strike="noStrike" cap="none" spc="0" dirty="0">
                <a:solidFill>
                  <a:srgbClr val="0070C0"/>
                </a:solidFill>
                <a:latin typeface="Times New Roman"/>
                <a:cs typeface="Times New Roman"/>
              </a:rPr>
              <a:t>- Dica:</a:t>
            </a:r>
          </a:p>
          <a:p>
            <a:pPr>
              <a:defRPr/>
            </a:pPr>
            <a:r>
              <a:rPr lang="pt-BR" sz="2000" b="0" i="0" u="none" strike="noStrike" cap="none" spc="0" dirty="0">
                <a:solidFill>
                  <a:srgbClr val="0070C0"/>
                </a:solidFill>
                <a:latin typeface="Times New Roman"/>
                <a:cs typeface="Times New Roman"/>
              </a:rPr>
              <a:t>Numerador = peso</a:t>
            </a:r>
          </a:p>
          <a:p>
            <a:pPr>
              <a:defRPr/>
            </a:pPr>
            <a:r>
              <a:rPr lang="pt-BR" sz="2000" dirty="0">
                <a:solidFill>
                  <a:srgbClr val="0070C0"/>
                </a:solidFill>
                <a:latin typeface="Times New Roman"/>
                <a:cs typeface="Times New Roman"/>
              </a:rPr>
              <a:t>Denominador = altura * altura</a:t>
            </a:r>
            <a:endParaRPr lang="pt-BR" sz="2000" b="0" i="0" u="none" strike="noStrike" cap="none" spc="0" dirty="0">
              <a:solidFill>
                <a:srgbClr val="0070C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pt-BR" sz="2000" b="0" i="0" u="none" strike="noStrike" cap="none" spc="0" dirty="0">
                <a:solidFill>
                  <a:srgbClr val="0070C0"/>
                </a:solidFill>
                <a:latin typeface="Times New Roman"/>
                <a:cs typeface="Times New Roman"/>
              </a:rPr>
              <a:t>É o peso dividido pela altura ao quadrado.</a:t>
            </a:r>
          </a:p>
          <a:p>
            <a:pPr>
              <a:defRPr/>
            </a:pPr>
            <a:r>
              <a:rPr lang="pt-BR" sz="2000" b="0" i="0" u="none" strike="noStrike" cap="none" spc="0" dirty="0">
                <a:solidFill>
                  <a:srgbClr val="0070C0"/>
                </a:solidFill>
                <a:latin typeface="Times New Roman"/>
                <a:cs typeface="Times New Roman"/>
              </a:rPr>
              <a:t>Para calcular potência, use a expressão x * x, ou seja, altura * altura.</a:t>
            </a:r>
            <a:endParaRPr lang="pt-BR" sz="2000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3A81FDC-FBDD-4305-A98F-7D2EF013B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444209" y="836711"/>
            <a:ext cx="2304256" cy="130961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Tópicos vistos neste capítulo</a:t>
            </a:r>
            <a:endParaRPr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/>
        </p:blipFill>
        <p:spPr bwMode="auto">
          <a:xfrm>
            <a:off x="395536" y="1628800"/>
            <a:ext cx="8333972" cy="489654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3">
            <a:extLst>
              <a:ext uri="{FF2B5EF4-FFF2-40B4-BE49-F238E27FC236}">
                <a16:creationId xmlns:a16="http://schemas.microsoft.com/office/drawing/2014/main" id="{FF1DF28B-2733-4C94-9875-C966860006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564" y="908720"/>
            <a:ext cx="7772400" cy="5949280"/>
          </a:xfrm>
        </p:spPr>
        <p:txBody>
          <a:bodyPr>
            <a:normAutofit lnSpcReduction="10000"/>
          </a:bodyPr>
          <a:lstStyle/>
          <a:p>
            <a:pPr marL="431800" indent="-342900">
              <a:buFont typeface="Arial" panose="020B0604020202020204" pitchFamily="34" charset="0"/>
              <a:buChar char="•"/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Bibliografia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1800" indent="-34290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WAZLAWICK, Raul Sidnei. Introdução a algoritmos e programação com Python: uma abordagem dirigida por testes. Rio de Janeiro: Elsevier, 2018.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MINHA BIBLIOTECA</a:t>
            </a:r>
          </a:p>
          <a:p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alt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</a:t>
            </a: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.:  </a:t>
            </a:r>
            <a:b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livro consta da biblioteca digital do CEUB </a:t>
            </a:r>
            <a:b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 plataforma MINHA BIBLIOTECA</a:t>
            </a:r>
            <a:b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Acesse pelo Espaço Aluno</a:t>
            </a:r>
            <a:b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do capítulo 2 do livro</a:t>
            </a:r>
          </a:p>
          <a:p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2A705DE-535A-461A-BCF4-5A89627FDB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88640"/>
            <a:ext cx="7772400" cy="640112"/>
          </a:xfrm>
        </p:spPr>
        <p:txBody>
          <a:bodyPr/>
          <a:lstStyle/>
          <a:p>
            <a:pPr eaLnBrk="1" hangingPunct="1"/>
            <a:r>
              <a:rPr lang="pt-BR" altLang="pt-BR" b="1" dirty="0"/>
              <a:t>Referências</a:t>
            </a:r>
            <a:endParaRPr lang="pt-BR" altLang="pt-BR" dirty="0"/>
          </a:p>
        </p:txBody>
      </p:sp>
      <p:pic>
        <p:nvPicPr>
          <p:cNvPr id="4" name="Imagem 3" descr="Introdução a Algoritmos e Programação com Python: Uma Abordagem Dirigida por Testes">
            <a:extLst>
              <a:ext uri="{FF2B5EF4-FFF2-40B4-BE49-F238E27FC236}">
                <a16:creationId xmlns:a16="http://schemas.microsoft.com/office/drawing/2014/main" id="{AB4BECD8-9083-468B-955E-69F2D1C9EB3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2132856"/>
            <a:ext cx="2232248" cy="2448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44406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name="Tipo de Madeira">
  <a:themeElements>
    <a:clrScheme name="Tipo de Madeira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Tipo de Madeira">
      <a:majorFont>
        <a:latin typeface="Rockwell Condensed"/>
        <a:ea typeface="Arial"/>
        <a:cs typeface="Arial"/>
      </a:majorFont>
      <a:minorFont>
        <a:latin typeface="Rockwell"/>
        <a:ea typeface="Arial"/>
        <a:cs typeface="Arial"/>
      </a:minorFont>
    </a:fontScheme>
    <a:fmtScheme name="Tipo de Madeira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ipo de Madeira">
  <a:themeElements>
    <a:clrScheme name="Tipo de Madeira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Tipo de Madeira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ipo de Madeira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TM03090434[[fn=Tipo de Madeira]]</Template>
  <TotalTime>14669</TotalTime>
  <Words>1015</Words>
  <Application>Microsoft Office PowerPoint</Application>
  <DocSecurity>0</DocSecurity>
  <PresentationFormat>Apresentação na tela (4:3)</PresentationFormat>
  <Paragraphs>191</Paragraphs>
  <Slides>22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22</vt:i4>
      </vt:variant>
    </vt:vector>
  </HeadingPairs>
  <TitlesOfParts>
    <vt:vector size="30" baseType="lpstr">
      <vt:lpstr>Arial</vt:lpstr>
      <vt:lpstr>Calibri</vt:lpstr>
      <vt:lpstr>Rockwell</vt:lpstr>
      <vt:lpstr>Rockwell Condensed</vt:lpstr>
      <vt:lpstr>Times New Roman</vt:lpstr>
      <vt:lpstr>Wingdings</vt:lpstr>
      <vt:lpstr>Tipo de Madeira</vt:lpstr>
      <vt:lpstr>1_Tipo de Madeira</vt:lpstr>
      <vt:lpstr>Apresentação do PowerPoint</vt:lpstr>
      <vt:lpstr>Apresentação do PowerPoint</vt:lpstr>
      <vt:lpstr>Escrevendo seu primeiro programa</vt:lpstr>
      <vt:lpstr>Erro de sintaxe</vt:lpstr>
      <vt:lpstr>Aspas simples ou duplas</vt:lpstr>
      <vt:lpstr>Explicando a função “print”</vt:lpstr>
      <vt:lpstr>Nova linha após “print”</vt:lpstr>
      <vt:lpstr>Várias literais (strings)</vt:lpstr>
      <vt:lpstr>“Força” linha nova (\n)</vt:lpstr>
      <vt:lpstr>Apresentação do PowerPoint</vt:lpstr>
      <vt:lpstr>Apresentação do PowerPoint</vt:lpstr>
      <vt:lpstr>Expressões com números inteiros</vt:lpstr>
      <vt:lpstr>Número x Literal (String)</vt:lpstr>
      <vt:lpstr>Apresentação do PowerPoint</vt:lpstr>
      <vt:lpstr>Expressões com números de ponto flutuante</vt:lpstr>
      <vt:lpstr>Ponto decimal (notação americana)</vt:lpstr>
      <vt:lpstr>Aproximação</vt:lpstr>
      <vt:lpstr>Divisão sempre produz número de ponto flutuante</vt:lpstr>
      <vt:lpstr>Apresentação do PowerPoint</vt:lpstr>
      <vt:lpstr>Apresentação do PowerPoint</vt:lpstr>
      <vt:lpstr>Tópicos vistos neste capítulo</vt:lpstr>
      <vt:lpstr>Referências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e Programação – Linguagens e Métodos Formais</dc:title>
  <dc:subject/>
  <dc:creator>Raul Sidnei Wazlawick</dc:creator>
  <cp:keywords/>
  <dc:description/>
  <cp:lastModifiedBy>Admin</cp:lastModifiedBy>
  <cp:revision>145</cp:revision>
  <dcterms:created xsi:type="dcterms:W3CDTF">2018-02-23T13:01:13Z</dcterms:created>
  <dcterms:modified xsi:type="dcterms:W3CDTF">2026-02-26T19:39:55Z</dcterms:modified>
  <cp:category/>
  <dc:identifier/>
  <cp:contentStatus/>
  <dc:language/>
  <cp:version/>
</cp:coreProperties>
</file>