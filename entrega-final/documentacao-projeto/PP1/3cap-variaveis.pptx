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89" r:id="rId4"/>
    <p:sldId id="258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95" r:id="rId13"/>
    <p:sldId id="268" r:id="rId14"/>
    <p:sldId id="269" r:id="rId15"/>
    <p:sldId id="287" r:id="rId16"/>
    <p:sldId id="271" r:id="rId17"/>
    <p:sldId id="272" r:id="rId18"/>
    <p:sldId id="273" r:id="rId19"/>
    <p:sldId id="288" r:id="rId20"/>
    <p:sldId id="275" r:id="rId21"/>
    <p:sldId id="276" r:id="rId22"/>
    <p:sldId id="277" r:id="rId23"/>
    <p:sldId id="278" r:id="rId24"/>
    <p:sldId id="1716" r:id="rId25"/>
    <p:sldId id="279" r:id="rId26"/>
    <p:sldId id="280" r:id="rId27"/>
    <p:sldId id="281" r:id="rId28"/>
    <p:sldId id="282" r:id="rId29"/>
    <p:sldId id="283" r:id="rId30"/>
    <p:sldId id="284" r:id="rId31"/>
    <p:sldId id="291" r:id="rId32"/>
    <p:sldId id="293" r:id="rId33"/>
    <p:sldId id="294" r:id="rId34"/>
    <p:sldId id="286" r:id="rId35"/>
    <p:sldId id="1715" r:id="rId36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Tahoma" panose="020B0604030504040204" pitchFamily="34" charset="0"/>
      <p:regular r:id="rId42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h9RaQXOlPoGQGGuXEIkVL4oHOP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6" autoAdjust="0"/>
    <p:restoredTop sz="93883" autoAdjust="0"/>
  </p:normalViewPr>
  <p:slideViewPr>
    <p:cSldViewPr snapToGrid="0">
      <p:cViewPr varScale="1">
        <p:scale>
          <a:sx n="80" d="100"/>
          <a:sy n="80" d="100"/>
        </p:scale>
        <p:origin x="1036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4258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997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8505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1971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5695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9649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8647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681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203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05340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7786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8249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4471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78387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8216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48690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00326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7867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71993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759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95515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50443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56643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50398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5073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98362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59803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90833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4666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051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Tahoma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body" idx="1"/>
          </p:nvPr>
        </p:nvSpPr>
        <p:spPr>
          <a:xfrm>
            <a:off x="628650" y="1427811"/>
            <a:ext cx="7886700" cy="454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" name="Google Shape;21;p7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Tahoma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800">
                <a:solidFill>
                  <a:srgbClr val="888888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3"/>
          </p:nvPr>
        </p:nvSpPr>
        <p:spPr>
          <a:xfrm>
            <a:off x="4629151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>
            <a:spLocks noGrp="1"/>
          </p:cNvSpPr>
          <p:nvPr>
            <p:ph type="pic" idx="2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24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 rot="5400000">
            <a:off x="2301598" y="-245138"/>
            <a:ext cx="4540807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 rot="5400000">
            <a:off x="4623594" y="2285208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3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3200" b="1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628650" y="1427811"/>
            <a:ext cx="7886700" cy="454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1" name="Google Shape;11;p5"/>
          <p:cNvPicPr preferRelativeResize="0"/>
          <p:nvPr/>
        </p:nvPicPr>
        <p:blipFill rotWithShape="1">
          <a:blip r:embed="rId13">
            <a:alphaModFix/>
          </a:blip>
          <a:srcRect l="62821" r="3833" b="75927"/>
          <a:stretch/>
        </p:blipFill>
        <p:spPr>
          <a:xfrm>
            <a:off x="6765328" y="3"/>
            <a:ext cx="2310713" cy="12521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EF8194B-4E43-4BEF-8D39-035DBDE00B03}"/>
              </a:ext>
            </a:extLst>
          </p:cNvPr>
          <p:cNvSpPr/>
          <p:nvPr/>
        </p:nvSpPr>
        <p:spPr>
          <a:xfrm>
            <a:off x="1540136" y="50994"/>
            <a:ext cx="49455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alt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CEUB</a:t>
            </a:r>
          </a:p>
          <a:p>
            <a:pPr algn="ctr"/>
            <a:r>
              <a:rPr lang="pt-BR" alt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FATECS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46D6EF-0A64-408E-8AD3-A28E69F040D6}"/>
              </a:ext>
            </a:extLst>
          </p:cNvPr>
          <p:cNvSpPr/>
          <p:nvPr/>
        </p:nvSpPr>
        <p:spPr>
          <a:xfrm>
            <a:off x="593890" y="2646356"/>
            <a:ext cx="735290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Análise e Desenvolvimento de Sistemas - ADS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Ciência da Computação - CCO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Engenharia de Software - ESW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Barbosa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0" y="24682"/>
            <a:ext cx="9106225" cy="567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	</a:t>
            </a:r>
          </a:p>
          <a:p>
            <a: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    - Disciplina:</a:t>
            </a:r>
          </a:p>
          <a:p>
            <a:b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</a:br>
            <a: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    Lógica De Programação - LP</a:t>
            </a:r>
          </a:p>
          <a:p>
            <a:pPr algn="just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just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just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r"/>
            <a:b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</a:br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r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r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r"/>
            <a: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Prof. Barbosa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1547667" y="254474"/>
            <a:ext cx="6176803" cy="569783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pt-BR" sz="2100" dirty="0"/>
              <a:t>Cap. 3 - Próximos tópicos:</a:t>
            </a:r>
            <a:endParaRPr sz="21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 bwMode="auto">
          <a:xfrm>
            <a:off x="767395" y="1310168"/>
            <a:ext cx="6887169" cy="5293358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Significado de uma variável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Comando de atribuição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Identificador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Tipos de valores numéricos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Operações aritméticas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Formatação de saída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 de dados pelo teclado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Precedência de operadores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Arredondamento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Notação científica ou exponencial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 xmlns:m="http://schemas.openxmlformats.org/officeDocument/2006/math" xmlns:w="http://schemas.openxmlformats.org/wordprocessingml/2006/main">
      <p:transition spd="slow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108286"/>
            <a:ext cx="7056552" cy="47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Significado de uma variável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188536" y="690863"/>
            <a:ext cx="5674967" cy="6167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28625" indent="-257175">
              <a:lnSpc>
                <a:spcPct val="100000"/>
              </a:lnSpc>
              <a:spcBef>
                <a:spcPts val="0"/>
              </a:spcBef>
              <a:buSzPct val="75000"/>
              <a:buFont typeface="Wingdings" panose="05000000000000000000" pitchFamily="2" charset="2"/>
              <a:buChar char="q"/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Charles Babbage e Ada </a:t>
            </a:r>
            <a:r>
              <a:rPr lang="pt-BR" sz="2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Lovelace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b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(primeira metade do Século XIX)</a:t>
            </a:r>
          </a:p>
          <a:p>
            <a:pPr marL="428625" indent="-257175">
              <a:lnSpc>
                <a:spcPct val="100000"/>
              </a:lnSpc>
              <a:spcBef>
                <a:spcPts val="0"/>
              </a:spcBef>
              <a:buSzPct val="75000"/>
              <a:buFont typeface="Wingdings" panose="05000000000000000000" pitchFamily="2" charset="2"/>
              <a:buChar char="q"/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Atribuição: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valor1 = 10   # Armazena na memória (atribuição)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print(valor1) # Mostra na tela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valor2 = 20   # Armazena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print(“Valor 2:”, valor2) # Mostra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FontTx/>
              <a:buChar char="-"/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Saída na tela: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 2: 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Obs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.: O símbolo # representa um comentário.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Não é executado, apenas documenta o programa.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1D4E96-AD04-4793-8D4F-C41544743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661" y="1671255"/>
            <a:ext cx="3069340" cy="44655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874706"/>
            <a:ext cx="7886700" cy="5983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20000"/>
          </a:bodyPr>
          <a:lstStyle/>
          <a:p>
            <a:pPr marL="257175" indent="-257175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Comandos</a:t>
            </a: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valor1 = 10   		# Armazena na memória (atribuição)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print(valor1)		# Mostra na tela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valor2 = 20		# Armazena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print(“Valor 2:”, valor2) # Mostra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Saída na tela:</a:t>
            </a:r>
            <a:b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10</a:t>
            </a:r>
            <a:b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 2: 20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Exercício: </a:t>
            </a:r>
            <a:b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b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Some o conteúdo da variável valor1 com o conteúdo da variável valor2, armazene o resultado na variável soma e mostre o resultado na tela.</a:t>
            </a: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AF4FE928-D0C0-4FF5-BDC0-44CE8FEB7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62485"/>
            <a:ext cx="7332286" cy="47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Significado de uma variável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8705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169559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Cálculo com variáveis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577242"/>
            <a:ext cx="8119424" cy="628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 Atribuição de variáveis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valor1 = 10		   # Armazena na memória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valor2 = 20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 Processamento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soma = valor1 + valor2  # Calcula e armazena o resultado na memória (soma)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 Exibe o resultado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print(valor1)		   # Mostra na tela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print(valor2)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print(soma)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print(“Soma =“, soma)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Tx/>
              <a:buChar char="-"/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Saída: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10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30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Soma = 30</a:t>
            </a:r>
          </a:p>
          <a:p>
            <a:pPr marL="0" indent="0">
              <a:spcBef>
                <a:spcPts val="0"/>
              </a:spcBef>
              <a:buSzPts val="24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69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26613" y="857250"/>
            <a:ext cx="7886700" cy="5463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Comandos</a:t>
            </a: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x = 10 + 4		# Calcula e armazena na memória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print(x)		# Mostra na tela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y = 2 * x		# Calcula e armazena na memória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print(y)		# Mostra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Saída</a:t>
            </a: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14</a:t>
            </a:r>
          </a:p>
          <a:p>
            <a:pPr>
              <a:lnSpc>
                <a:spcPct val="115000"/>
              </a:lnSpc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28</a:t>
            </a:r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9D3DB4D9-0648-4A3B-B75B-C1224F0828A7}"/>
              </a:ext>
            </a:extLst>
          </p:cNvPr>
          <p:cNvSpPr/>
          <p:nvPr/>
        </p:nvSpPr>
        <p:spPr>
          <a:xfrm>
            <a:off x="1595332" y="3794176"/>
            <a:ext cx="162018" cy="3423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/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CE9FF033-FFBE-4DA8-AD18-168255DD0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94148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Cálculo com variáveis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66102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39041" y="129829"/>
            <a:ext cx="7886700" cy="436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Comando de atribuição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39041" y="982598"/>
            <a:ext cx="7886700" cy="587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lnSpcReduction="10000"/>
          </a:bodyPr>
          <a:lstStyle/>
          <a:p>
            <a:pPr marL="428625" indent="-2571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Comando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válido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x = y + z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Obs.: o cálculo sempre fica do lado direito</a:t>
            </a:r>
          </a:p>
          <a:p>
            <a:pPr marL="428625" indent="-2571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Comando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inválido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y + z = x</a:t>
            </a:r>
          </a:p>
          <a:p>
            <a:pPr marL="428625" indent="-2571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	 = 1			# Memória		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		# Tela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depois desse comando, x vale 1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x+1		</a:t>
            </a:r>
            <a:endParaRPr lang="pt-BR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depois desse comando, x vale 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x+10		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depois desse comando, x vale 12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0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70576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754000"/>
            <a:ext cx="7886700" cy="6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identificador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pode ter: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letras (maiúsculas ou minúsculas), 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dígitos (0 a 9) ou 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sublinhado ( _ )</a:t>
            </a:r>
          </a:p>
          <a:p>
            <a:pPr marL="171450" indent="0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last_name1, nota 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nome_aluno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pode utilizar dígitos para iniciar um identificador. </a:t>
            </a:r>
          </a:p>
          <a:p>
            <a:pPr marL="171450" indent="0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Exemplo: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1last_name é um identificador ilegal.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permitido utilizar palavras-chave (comandos) da linguagem como nomes de identificadores.</a:t>
            </a:r>
          </a:p>
          <a:p>
            <a:pPr marL="171450" indent="0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Exemplo: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print, input, if, else, while, for</a:t>
            </a:r>
          </a:p>
          <a:p>
            <a:pPr marL="0" indent="0">
              <a:spcBef>
                <a:spcPts val="0"/>
              </a:spcBef>
              <a:buSzPts val="24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088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77081" y="1074656"/>
            <a:ext cx="8195580" cy="578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é case sensitive (sensível a maiúsculas e minúsculas)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 que as variáveis maiúsculas e minúsculas são diferentes. </a:t>
            </a:r>
          </a:p>
          <a:p>
            <a:pPr marL="428625" indent="-257175">
              <a:buFont typeface="Arial" panose="020B0604020202020204" pitchFamily="34" charset="0"/>
              <a:buChar char="•"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são duas variáveis diferentes.</a:t>
            </a:r>
          </a:p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 significativo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 variáveis para aumentar a legibilidade do código.</a:t>
            </a:r>
          </a:p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 variável contém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várias palavras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elas devem ser separadas por sublinhado (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snake_case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Exemplo: 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media_notas</a:t>
            </a: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20382B39-E052-4DFC-B0AC-EDD084B792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45990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573799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796418"/>
            <a:ext cx="7886700" cy="606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20000"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Maiúsculas e minúsculas são diferentes: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print(a)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nomes sem significado: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Ex.: use </a:t>
            </a:r>
            <a:r>
              <a:rPr lang="pt-BR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idade</a:t>
            </a:r>
            <a:r>
              <a:rPr lang="pt-BR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vez de </a:t>
            </a:r>
            <a:r>
              <a:rPr lang="pt-BR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 números, 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underscore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(sublinhado) é opcional: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Ex.: teste1 ou teste_1.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pt-B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snake_case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identificadores de variáveis.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Ex.: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media_aluno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soma_valores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28625" lvl="0" indent="-257175">
              <a:buFont typeface="Arial" panose="020B0604020202020204" pitchFamily="34" charset="0"/>
              <a:buChar char="•"/>
            </a:pP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</a:t>
            </a:r>
          </a:p>
          <a:p>
            <a:pPr indent="-342900">
              <a:spcBef>
                <a:spcPts val="0"/>
              </a:spcBef>
              <a:buSzPts val="2400"/>
              <a:buFontTx/>
              <a:buChar char="-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Convenção usada em Python para nome de variável, função e módulo. </a:t>
            </a:r>
          </a:p>
          <a:p>
            <a:pPr indent="-342900">
              <a:spcBef>
                <a:spcPts val="0"/>
              </a:spcBef>
              <a:buSzPts val="2400"/>
              <a:buFontTx/>
              <a:buChar char="-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Nomes compostos com várias palavras usamos o sublinhado (_) e apenas letras minúsculas.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5574F997-D43F-4054-B691-A0231232C0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11978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1061754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1296039"/>
            <a:ext cx="7886700" cy="4727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pt-B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snake_case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identificadores de variáveis.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Ex.: 	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media_aluno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soma_valores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Observações:</a:t>
            </a: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Snake_case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a convenção de nomenclatura em que cada espaço é substituído por um caractere de sublinhado e as palavras são escritas em letras minúsculas. </a:t>
            </a: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É uma convenção de nomenclatura comumente usada em computação, por exemplo, para nome de variáveis, funções (rotinas) e nome de arquivos.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F2F89523-F38B-4249-A3CC-4E640FF76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45990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</a:t>
            </a:r>
            <a:r>
              <a:rPr lang="pt-BR" sz="2100" dirty="0" err="1"/>
              <a:t>snake_case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3246635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21258" y="777566"/>
            <a:ext cx="8128851" cy="59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inicie com dígito: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1a_escolha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Somente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dígitos, letras 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underscore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parte#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R$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teste_1º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Letras acentuadas são possíveis, mas evite para nomes de variáveis.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acento somente dentro nas mensagens do comando print.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usar palavras reservadas da linguagem: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print, input, if, else, while, for, continue, def etc.</a:t>
            </a:r>
          </a:p>
          <a:p>
            <a:pPr marL="0" indent="0">
              <a:spcBef>
                <a:spcPts val="0"/>
              </a:spcBef>
              <a:buSzPts val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C34FA0B3-33AE-4CB6-BE60-A5976D140A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70576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617353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740474"/>
            <a:ext cx="8364521" cy="61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257175" indent="-257175">
              <a:lnSpc>
                <a:spcPct val="12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Exercício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400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Quais das expressões abaixo são para válidas para variáveis em Python? </a:t>
            </a:r>
            <a:b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 que não são válidas, qual o motivo?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Elefante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Madeira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CasaDePedra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tábua_de_passar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Linha42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3a_dimensão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validação&amp;verificação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14bis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7E4223E0-671E-47AF-8618-9185869368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55416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482667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588571" y="857250"/>
            <a:ext cx="8055808" cy="600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85000" lnSpcReduction="20000"/>
          </a:bodyPr>
          <a:lstStyle/>
          <a:p>
            <a:pPr marL="257175" indent="-257175">
              <a:lnSpc>
                <a:spcPct val="12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Exercício: </a:t>
            </a:r>
          </a:p>
          <a:p>
            <a:pPr marL="257175" indent="-257175">
              <a:lnSpc>
                <a:spcPct val="120000"/>
              </a:lnSpc>
              <a:spcBef>
                <a:spcPts val="0"/>
              </a:spcBef>
              <a:buSzPts val="2400"/>
              <a:buFontTx/>
              <a:buChar char="-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Quais das expressões abaixo são para válidas para variáveis em Python? </a:t>
            </a:r>
            <a:b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 que não são válidas, qual o motivo?</a:t>
            </a:r>
          </a:p>
          <a:p>
            <a:pPr marL="257175" indent="-257175">
              <a:lnSpc>
                <a:spcPct val="120000"/>
              </a:lnSpc>
              <a:spcBef>
                <a:spcPts val="0"/>
              </a:spcBef>
              <a:buSzPts val="2400"/>
              <a:buFontTx/>
              <a:buChar char="-"/>
            </a:pPr>
            <a:endParaRPr lang="pt-BR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/>
          </a:p>
          <a:p>
            <a:pPr marL="0" indent="0">
              <a:spcBef>
                <a:spcPts val="0"/>
              </a:spcBef>
              <a:buSzPts val="2400"/>
            </a:pPr>
            <a:endParaRPr lang="pt-BR" dirty="0"/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Elefante					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Madeira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tx1"/>
                </a:solidFill>
              </a:rPr>
              <a:t>CasaDePedra</a:t>
            </a: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tx1"/>
                </a:solidFill>
              </a:rPr>
              <a:t>tábua_de_passar</a:t>
            </a: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Linha42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3a_dimensão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tx1"/>
                </a:solidFill>
              </a:rPr>
              <a:t>validação&amp;verificação</a:t>
            </a: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14bis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continue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2D5A4D-85B9-4D84-B4F1-22FCBAC593FC}"/>
              </a:ext>
            </a:extLst>
          </p:cNvPr>
          <p:cNvSpPr txBox="1"/>
          <p:nvPr/>
        </p:nvSpPr>
        <p:spPr>
          <a:xfrm>
            <a:off x="3435589" y="1532696"/>
            <a:ext cx="5246497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Tx/>
              <a:buChar char="-"/>
            </a:pPr>
            <a:endParaRPr lang="pt-BR" sz="2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4313" indent="-214313">
              <a:buFontTx/>
              <a:buChar char="-"/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Nome de identificadores (variáveis):</a:t>
            </a:r>
          </a:p>
          <a:p>
            <a:pPr>
              <a:spcAft>
                <a:spcPts val="60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Veja as justificativas abaixo:</a:t>
            </a:r>
            <a:endParaRPr lang="pt-BR" sz="2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Ok, elefante (convenção)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Ok, madeira (convenção)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Ok, </a:t>
            </a:r>
            <a:r>
              <a:rPr lang="pt-BR" sz="2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casa_pedra</a:t>
            </a: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(convenção)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Ok, </a:t>
            </a:r>
            <a:r>
              <a:rPr lang="pt-BR" sz="2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tabua_passar</a:t>
            </a: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(convenção)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Ok, linha42 ou linha_42 (convenção)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Começa por dígito (errado)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Usa caractere especial &amp; (errado)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Começa por dígito (errado)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Palavra reservada da linguagem (errado)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CA597BE2-B40F-4625-B402-0BAFA769E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55416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53042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230833"/>
            <a:ext cx="7886700" cy="397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Tipos de valores numéricos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1310182"/>
            <a:ext cx="7886700" cy="5118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Números inteiros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78, -467 ou 23786874236487263786423;</a:t>
            </a:r>
          </a:p>
          <a:p>
            <a:pPr lvl="0"/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Números de ponto flutuante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1.0, 45.2222, -46.78;</a:t>
            </a:r>
          </a:p>
          <a:p>
            <a:pPr lvl="0"/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Booleanos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"True" e "False";</a:t>
            </a:r>
          </a:p>
          <a:p>
            <a:pPr lvl="0"/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Números complexos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(3+4j), (-2+4.5j), (56.2-7.67j).</a:t>
            </a:r>
          </a:p>
        </p:txBody>
      </p:sp>
    </p:spTree>
    <p:extLst>
      <p:ext uri="{BB962C8B-B14F-4D97-AF65-F5344CB8AC3E}">
        <p14:creationId xmlns:p14="http://schemas.microsoft.com/office/powerpoint/2010/main" val="3239102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103575"/>
            <a:ext cx="7261585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altLang="pt-BR" dirty="0"/>
              <a:t>Principais</a:t>
            </a:r>
            <a:r>
              <a:rPr lang="en-US" altLang="pt-BR" dirty="0"/>
              <a:t> </a:t>
            </a:r>
            <a:r>
              <a:rPr lang="pt-BR" altLang="pt-BR" dirty="0"/>
              <a:t>Tipos</a:t>
            </a:r>
            <a:r>
              <a:rPr lang="en-US" altLang="pt-BR" dirty="0"/>
              <a:t> de dados</a:t>
            </a:r>
            <a:endParaRPr dirty="0"/>
          </a:p>
        </p:txBody>
      </p:sp>
      <p:sp>
        <p:nvSpPr>
          <p:cNvPr id="57" name="Rectangle 4">
            <a:extLst>
              <a:ext uri="{FF2B5EF4-FFF2-40B4-BE49-F238E27FC236}">
                <a16:creationId xmlns:a16="http://schemas.microsoft.com/office/drawing/2014/main" id="{950327F8-CD20-4583-8864-A637B184D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0985" y="1737721"/>
            <a:ext cx="1241822" cy="432197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dirty="0"/>
              <a:t>Tipos</a:t>
            </a:r>
            <a:r>
              <a:rPr lang="en-US" altLang="pt-BR" sz="1400" dirty="0"/>
              <a:t> de dados</a:t>
            </a:r>
          </a:p>
        </p:txBody>
      </p:sp>
      <p:sp>
        <p:nvSpPr>
          <p:cNvPr id="58" name="Rectangle 5">
            <a:extLst>
              <a:ext uri="{FF2B5EF4-FFF2-40B4-BE49-F238E27FC236}">
                <a16:creationId xmlns:a16="http://schemas.microsoft.com/office/drawing/2014/main" id="{6CD5B845-BCB6-4776-B839-2D758D462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510" y="2602115"/>
            <a:ext cx="1241822" cy="432197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dirty="0"/>
              <a:t>Numérico</a:t>
            </a:r>
          </a:p>
        </p:txBody>
      </p:sp>
      <p:sp>
        <p:nvSpPr>
          <p:cNvPr id="59" name="Rectangle 6">
            <a:extLst>
              <a:ext uri="{FF2B5EF4-FFF2-40B4-BE49-F238E27FC236}">
                <a16:creationId xmlns:a16="http://schemas.microsoft.com/office/drawing/2014/main" id="{DD1BF103-43BF-4940-9E2C-7203E2485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422" y="3520087"/>
            <a:ext cx="1241822" cy="432197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dirty="0"/>
              <a:t>Inteiro</a:t>
            </a: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id="{58234A1C-FB53-493F-A49F-AF8D2591C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135" y="3520087"/>
            <a:ext cx="1241822" cy="432197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Real</a:t>
            </a:r>
          </a:p>
        </p:txBody>
      </p:sp>
      <p:sp>
        <p:nvSpPr>
          <p:cNvPr id="61" name="Rectangle 12">
            <a:extLst>
              <a:ext uri="{FF2B5EF4-FFF2-40B4-BE49-F238E27FC236}">
                <a16:creationId xmlns:a16="http://schemas.microsoft.com/office/drawing/2014/main" id="{FBE17B3B-7D23-4C85-A813-593755EF1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575" y="2547346"/>
            <a:ext cx="1241822" cy="432197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dirty="0"/>
              <a:t>Caractere</a:t>
            </a:r>
          </a:p>
        </p:txBody>
      </p:sp>
      <p:sp>
        <p:nvSpPr>
          <p:cNvPr id="62" name="Rectangle 13">
            <a:extLst>
              <a:ext uri="{FF2B5EF4-FFF2-40B4-BE49-F238E27FC236}">
                <a16:creationId xmlns:a16="http://schemas.microsoft.com/office/drawing/2014/main" id="{D73ED410-D270-4C79-8D3D-2E0EB96E6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016" y="2547346"/>
            <a:ext cx="1241822" cy="432197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dirty="0"/>
              <a:t>Lógico</a:t>
            </a:r>
          </a:p>
        </p:txBody>
      </p:sp>
      <p:sp>
        <p:nvSpPr>
          <p:cNvPr id="63" name="Text Box 14">
            <a:extLst>
              <a:ext uri="{FF2B5EF4-FFF2-40B4-BE49-F238E27FC236}">
                <a16:creationId xmlns:a16="http://schemas.microsoft.com/office/drawing/2014/main" id="{03E2B689-74B6-4956-A5B3-FB3CD6C3D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621" y="4059438"/>
            <a:ext cx="648889" cy="738664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24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-12</a:t>
            </a:r>
          </a:p>
        </p:txBody>
      </p:sp>
      <p:sp>
        <p:nvSpPr>
          <p:cNvPr id="64" name="Text Box 15">
            <a:extLst>
              <a:ext uri="{FF2B5EF4-FFF2-40B4-BE49-F238E27FC236}">
                <a16:creationId xmlns:a16="http://schemas.microsoft.com/office/drawing/2014/main" id="{703D78D8-06B6-4884-BC1E-2534FFCA7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755" y="4114209"/>
            <a:ext cx="701279" cy="738664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24,01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0,2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-12,44</a:t>
            </a:r>
          </a:p>
        </p:txBody>
      </p:sp>
      <p:sp>
        <p:nvSpPr>
          <p:cNvPr id="65" name="Text Box 16">
            <a:extLst>
              <a:ext uri="{FF2B5EF4-FFF2-40B4-BE49-F238E27FC236}">
                <a16:creationId xmlns:a16="http://schemas.microsoft.com/office/drawing/2014/main" id="{17DF3B8E-78CE-4709-8D0C-C63942FE2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7849" y="3141468"/>
            <a:ext cx="1133475" cy="738664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“Angelica”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“a”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“%”</a:t>
            </a:r>
          </a:p>
        </p:txBody>
      </p:sp>
      <p:sp>
        <p:nvSpPr>
          <p:cNvPr id="66" name="Text Box 17">
            <a:extLst>
              <a:ext uri="{FF2B5EF4-FFF2-40B4-BE49-F238E27FC236}">
                <a16:creationId xmlns:a16="http://schemas.microsoft.com/office/drawing/2014/main" id="{479596F2-158D-435F-93B1-8DC78E3D4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5174" y="3141468"/>
            <a:ext cx="1133475" cy="1169551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V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Sim/</a:t>
            </a:r>
            <a:r>
              <a:rPr lang="pt-BR" altLang="pt-BR" sz="1400" dirty="0"/>
              <a:t>Não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1/0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True/False</a:t>
            </a:r>
          </a:p>
        </p:txBody>
      </p:sp>
      <p:sp>
        <p:nvSpPr>
          <p:cNvPr id="67" name="Line 18">
            <a:extLst>
              <a:ext uri="{FF2B5EF4-FFF2-40B4-BE49-F238E27FC236}">
                <a16:creationId xmlns:a16="http://schemas.microsoft.com/office/drawing/2014/main" id="{E178EF1A-DE60-4F23-885B-22E4EAA2C8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3556" y="2169918"/>
            <a:ext cx="917972" cy="43219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/>
          </a:p>
        </p:txBody>
      </p:sp>
      <p:sp>
        <p:nvSpPr>
          <p:cNvPr id="68" name="Line 19">
            <a:extLst>
              <a:ext uri="{FF2B5EF4-FFF2-40B4-BE49-F238E27FC236}">
                <a16:creationId xmlns:a16="http://schemas.microsoft.com/office/drawing/2014/main" id="{47EABE87-360B-40EF-BEF7-20BA1BA49E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3456" y="2169917"/>
            <a:ext cx="1079897" cy="377429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/>
          </a:p>
        </p:txBody>
      </p:sp>
      <p:sp>
        <p:nvSpPr>
          <p:cNvPr id="69" name="Line 20">
            <a:extLst>
              <a:ext uri="{FF2B5EF4-FFF2-40B4-BE49-F238E27FC236}">
                <a16:creationId xmlns:a16="http://schemas.microsoft.com/office/drawing/2014/main" id="{6E00B7F4-30D7-4FEA-A1A6-B6D63BB355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5378" y="2169917"/>
            <a:ext cx="2430066" cy="377429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/>
          </a:p>
        </p:txBody>
      </p:sp>
      <p:sp>
        <p:nvSpPr>
          <p:cNvPr id="70" name="Line 21">
            <a:extLst>
              <a:ext uri="{FF2B5EF4-FFF2-40B4-BE49-F238E27FC236}">
                <a16:creationId xmlns:a16="http://schemas.microsoft.com/office/drawing/2014/main" id="{CFEFF7B2-6BC7-4BA9-8BDD-EF56B296BD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08891" y="3033122"/>
            <a:ext cx="917972" cy="48696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/>
          </a:p>
        </p:txBody>
      </p:sp>
      <p:sp>
        <p:nvSpPr>
          <p:cNvPr id="71" name="Line 22">
            <a:extLst>
              <a:ext uri="{FF2B5EF4-FFF2-40B4-BE49-F238E27FC236}">
                <a16:creationId xmlns:a16="http://schemas.microsoft.com/office/drawing/2014/main" id="{6C4DBE25-3C87-437C-9905-9DDDBA256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7134" y="3033122"/>
            <a:ext cx="647700" cy="48696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0701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233189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altLang="pt-BR" sz="2100" dirty="0"/>
              <a:t>Exercícios</a:t>
            </a:r>
            <a:endParaRPr lang="pt-BR"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1654262"/>
            <a:ext cx="7886700" cy="4072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altLang="pt-BR" dirty="0"/>
              <a:t>Identifique</a:t>
            </a:r>
            <a:r>
              <a:rPr lang="en-US" altLang="pt-BR" dirty="0"/>
              <a:t> o </a:t>
            </a:r>
            <a:r>
              <a:rPr lang="pt-BR" altLang="pt-BR" dirty="0"/>
              <a:t>tipo</a:t>
            </a:r>
            <a:r>
              <a:rPr lang="en-US" altLang="pt-BR" dirty="0"/>
              <a:t> de dado:</a:t>
            </a:r>
          </a:p>
          <a:p>
            <a:endParaRPr lang="en-US" altLang="pt-BR" dirty="0"/>
          </a:p>
          <a:p>
            <a:pPr lvl="1"/>
            <a:r>
              <a:rPr lang="en-US" altLang="pt-BR" dirty="0"/>
              <a:t>“Luis” </a:t>
            </a:r>
          </a:p>
          <a:p>
            <a:pPr lvl="1"/>
            <a:r>
              <a:rPr lang="en-US" altLang="pt-BR" dirty="0"/>
              <a:t>1.22</a:t>
            </a:r>
          </a:p>
          <a:p>
            <a:pPr lvl="1"/>
            <a:r>
              <a:rPr lang="en-US" altLang="pt-BR" dirty="0"/>
              <a:t>325</a:t>
            </a:r>
          </a:p>
          <a:p>
            <a:pPr lvl="1"/>
            <a:r>
              <a:rPr lang="en-US" altLang="pt-BR" dirty="0"/>
              <a:t>V</a:t>
            </a:r>
          </a:p>
          <a:p>
            <a:pPr lvl="1"/>
            <a:r>
              <a:rPr lang="en-US" altLang="pt-BR" dirty="0"/>
              <a:t>True</a:t>
            </a:r>
          </a:p>
          <a:p>
            <a:pPr lvl="1"/>
            <a:r>
              <a:rPr lang="en-US" altLang="pt-BR" dirty="0"/>
              <a:t>“</a:t>
            </a:r>
            <a:r>
              <a:rPr lang="pt-BR" altLang="pt-BR" dirty="0"/>
              <a:t>verdadeiro</a:t>
            </a:r>
            <a:r>
              <a:rPr lang="en-US" altLang="pt-BR" dirty="0"/>
              <a:t>”</a:t>
            </a:r>
          </a:p>
          <a:p>
            <a:pPr lvl="1"/>
            <a:r>
              <a:rPr lang="en-US" altLang="pt-BR" dirty="0"/>
              <a:t>F</a:t>
            </a:r>
          </a:p>
          <a:p>
            <a:pPr marL="0" indent="0">
              <a:spcBef>
                <a:spcPts val="0"/>
              </a:spcBef>
              <a:buSzPts val="24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6946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923828"/>
            <a:ext cx="7886700" cy="593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altLang="pt-BR" b="1" dirty="0"/>
              <a:t>Identifique</a:t>
            </a:r>
            <a:r>
              <a:rPr lang="en-US" altLang="pt-BR" dirty="0"/>
              <a:t> o </a:t>
            </a:r>
            <a:r>
              <a:rPr lang="pt-BR" altLang="pt-BR" dirty="0"/>
              <a:t>tipo</a:t>
            </a:r>
            <a:r>
              <a:rPr lang="en-US" altLang="pt-BR" dirty="0"/>
              <a:t> de dado:</a:t>
            </a:r>
          </a:p>
          <a:p>
            <a:pPr lvl="1"/>
            <a:r>
              <a:rPr lang="en-US" altLang="pt-BR" dirty="0"/>
              <a:t>“Luis” 		</a:t>
            </a:r>
          </a:p>
          <a:p>
            <a:pPr marL="428625" lvl="1" indent="0">
              <a:buNone/>
            </a:pPr>
            <a:r>
              <a:rPr lang="en-US" altLang="pt-BR" dirty="0"/>
              <a:t>			– character (string)</a:t>
            </a:r>
          </a:p>
          <a:p>
            <a:pPr lvl="1"/>
            <a:r>
              <a:rPr lang="en-US" altLang="pt-BR" dirty="0"/>
              <a:t>1.22 		</a:t>
            </a:r>
          </a:p>
          <a:p>
            <a:pPr marL="428625" lvl="1" indent="0">
              <a:buNone/>
            </a:pPr>
            <a:r>
              <a:rPr lang="en-US" altLang="pt-BR" dirty="0"/>
              <a:t>			– real (float)</a:t>
            </a:r>
          </a:p>
          <a:p>
            <a:pPr lvl="1"/>
            <a:r>
              <a:rPr lang="en-US" altLang="pt-BR" dirty="0"/>
              <a:t>325 		</a:t>
            </a:r>
          </a:p>
          <a:p>
            <a:pPr marL="428625" lvl="1" indent="0">
              <a:buNone/>
            </a:pPr>
            <a:r>
              <a:rPr lang="en-US" altLang="pt-BR" dirty="0"/>
              <a:t>			– </a:t>
            </a:r>
            <a:r>
              <a:rPr lang="pt-BR" altLang="pt-BR" dirty="0"/>
              <a:t>inteiro (int)</a:t>
            </a:r>
          </a:p>
          <a:p>
            <a:pPr lvl="1"/>
            <a:r>
              <a:rPr lang="en-US" altLang="pt-BR" dirty="0"/>
              <a:t>V 		</a:t>
            </a:r>
          </a:p>
          <a:p>
            <a:pPr marL="428625" lvl="1" indent="0">
              <a:buNone/>
            </a:pPr>
            <a:r>
              <a:rPr lang="en-US" altLang="pt-BR" dirty="0"/>
              <a:t>			– </a:t>
            </a:r>
            <a:r>
              <a:rPr lang="pt-BR" altLang="pt-BR" dirty="0"/>
              <a:t>lógico (</a:t>
            </a:r>
            <a:r>
              <a:rPr lang="pt-BR" altLang="pt-BR" dirty="0" err="1"/>
              <a:t>bool</a:t>
            </a:r>
            <a:r>
              <a:rPr lang="pt-BR" altLang="pt-BR" dirty="0"/>
              <a:t>)</a:t>
            </a:r>
          </a:p>
          <a:p>
            <a:pPr lvl="1"/>
            <a:r>
              <a:rPr lang="en-US" altLang="pt-BR" dirty="0"/>
              <a:t>True 		</a:t>
            </a:r>
          </a:p>
          <a:p>
            <a:pPr marL="428625" lvl="1" indent="0">
              <a:buNone/>
            </a:pPr>
            <a:r>
              <a:rPr lang="en-US" altLang="pt-BR" dirty="0"/>
              <a:t>			– </a:t>
            </a:r>
            <a:r>
              <a:rPr lang="pt-BR" altLang="pt-BR" dirty="0"/>
              <a:t>lógico (</a:t>
            </a:r>
            <a:r>
              <a:rPr lang="pt-BR" altLang="pt-BR" dirty="0" err="1"/>
              <a:t>bool</a:t>
            </a:r>
            <a:r>
              <a:rPr lang="pt-BR" altLang="pt-BR" dirty="0"/>
              <a:t>)</a:t>
            </a:r>
          </a:p>
          <a:p>
            <a:pPr lvl="1"/>
            <a:r>
              <a:rPr lang="en-US" altLang="pt-BR" dirty="0"/>
              <a:t>“</a:t>
            </a:r>
            <a:r>
              <a:rPr lang="pt-BR" altLang="pt-BR" dirty="0"/>
              <a:t>verdadeiro</a:t>
            </a:r>
            <a:r>
              <a:rPr lang="en-US" altLang="pt-BR" dirty="0"/>
              <a:t>” 	</a:t>
            </a:r>
          </a:p>
          <a:p>
            <a:pPr marL="428625" lvl="1" indent="0">
              <a:buNone/>
            </a:pPr>
            <a:r>
              <a:rPr lang="en-US" altLang="pt-BR" dirty="0"/>
              <a:t>			– </a:t>
            </a:r>
            <a:r>
              <a:rPr lang="pt-BR" altLang="pt-BR" dirty="0"/>
              <a:t>caractere (string)</a:t>
            </a:r>
          </a:p>
          <a:p>
            <a:pPr lvl="1"/>
            <a:r>
              <a:rPr lang="en-US" altLang="pt-BR" dirty="0"/>
              <a:t>F 			</a:t>
            </a:r>
          </a:p>
          <a:p>
            <a:pPr marL="428625" lvl="1" indent="0">
              <a:buNone/>
            </a:pPr>
            <a:r>
              <a:rPr lang="en-US" altLang="pt-BR" dirty="0"/>
              <a:t>			– </a:t>
            </a:r>
            <a:r>
              <a:rPr lang="pt-BR" altLang="pt-BR" dirty="0"/>
              <a:t>lógico (</a:t>
            </a:r>
            <a:r>
              <a:rPr lang="pt-BR" altLang="pt-BR" dirty="0" err="1"/>
              <a:t>bool</a:t>
            </a:r>
            <a:r>
              <a:rPr lang="pt-BR" altLang="pt-BR" dirty="0"/>
              <a:t>)</a:t>
            </a:r>
          </a:p>
          <a:p>
            <a:pPr marL="0" indent="0">
              <a:spcBef>
                <a:spcPts val="0"/>
              </a:spcBef>
              <a:buSzPts val="2400"/>
            </a:pPr>
            <a:endParaRPr dirty="0"/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224CAE92-4F27-4D2C-891A-1DC01B4B8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61469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altLang="pt-BR" sz="2100" dirty="0"/>
              <a:t>Exercícios</a:t>
            </a: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253158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1" y="339243"/>
            <a:ext cx="6850604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Verificando o tipo armazenado em uma variável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43061" y="1142453"/>
            <a:ext cx="8361574" cy="571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10		</a:t>
            </a: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Atribui um número inteiro a variável x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print(type(x))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3.45         </a:t>
            </a: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Atribui um número de ponto flutuante a variável x</a:t>
            </a:r>
            <a:endParaRPr lang="nb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print(type(x))			</a:t>
            </a:r>
            <a:endParaRPr lang="nb-NO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nb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3j		 </a:t>
            </a: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Atribui um número complexo a variável x</a:t>
            </a:r>
            <a:endParaRPr lang="nb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print(type(x))	</a:t>
            </a:r>
            <a:endParaRPr lang="pt-BR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Saída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&lt;class ‘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’&gt;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&lt;class ‘float’&gt;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&lt;class ‘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’&gt;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C216AB2C-7DD8-48CE-92CB-94B28FACE6F5}"/>
              </a:ext>
            </a:extLst>
          </p:cNvPr>
          <p:cNvSpPr/>
          <p:nvPr/>
        </p:nvSpPr>
        <p:spPr>
          <a:xfrm>
            <a:off x="2603656" y="4256900"/>
            <a:ext cx="162018" cy="3423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/>
          </a:p>
        </p:txBody>
      </p:sp>
    </p:spTree>
    <p:extLst>
      <p:ext uri="{BB962C8B-B14F-4D97-AF65-F5344CB8AC3E}">
        <p14:creationId xmlns:p14="http://schemas.microsoft.com/office/powerpoint/2010/main" val="410063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51724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Operador aritmético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596959"/>
            <a:ext cx="7886700" cy="6209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		soma</a:t>
            </a: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		subtração</a:t>
            </a: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		multiplicação		print(7 * 2)</a:t>
            </a: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		divisão			print(7 / 2)	</a:t>
            </a: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		divisão inteira ou	</a:t>
            </a: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quociente da divisão	print(7 // 2)</a:t>
            </a: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	resto da divisão	 	print(7 % 2)</a:t>
            </a: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	potência		print(7 ** 2)</a:t>
            </a:r>
          </a:p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Respostas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(saída do print):</a:t>
            </a:r>
          </a:p>
          <a:p>
            <a:pPr marL="0" indent="0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14</a:t>
            </a:r>
          </a:p>
          <a:p>
            <a:pPr marL="0" indent="0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3.5</a:t>
            </a:r>
          </a:p>
          <a:p>
            <a:pPr marL="0" indent="0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</a:t>
            </a:r>
          </a:p>
          <a:p>
            <a:pPr marL="0" indent="0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</a:p>
          <a:p>
            <a:pPr marL="0" indent="0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49</a:t>
            </a:r>
          </a:p>
          <a:p>
            <a:pPr marL="0" indent="0">
              <a:spcBef>
                <a:spcPts val="0"/>
              </a:spcBef>
              <a:buSzPts val="2400"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98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3" y="235550"/>
            <a:ext cx="7235687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X é divisível por y?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1428488"/>
            <a:ext cx="7886700" cy="472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 operador resto de divisão ( % ):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Exemplos:</a:t>
            </a: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buSzPts val="2400"/>
              <a:buFont typeface="+mj-lt"/>
              <a:buAutoNum type="arabicPeriod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Verificar se um número é par.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seja, verifique se o resto da divisão de um número  por 2 é igual a zero.</a:t>
            </a:r>
          </a:p>
          <a:p>
            <a:pPr marL="457200" indent="-457200">
              <a:spcBef>
                <a:spcPts val="0"/>
              </a:spcBef>
              <a:buSzPts val="2400"/>
              <a:buFont typeface="+mj-lt"/>
              <a:buAutoNum type="arabicPeriod"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buSzPts val="2400"/>
              <a:buFont typeface="+mj-lt"/>
              <a:buAutoNum type="arabicPeriod"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buSzPts val="2400"/>
              <a:buFont typeface="+mj-lt"/>
              <a:buAutoNum type="arabicPeriod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Verificar se </a:t>
            </a:r>
            <a:r>
              <a:rPr lang="pt-B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% y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igual a zero.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seja, verifique se o resto da divisão de x por y é igual a zero.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977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131852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print com várias partes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1081138" y="975998"/>
            <a:ext cx="7450121" cy="588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10000"/>
          </a:bodyPr>
          <a:lstStyle/>
          <a:p>
            <a:pPr indent="-342900">
              <a:lnSpc>
                <a:spcPct val="17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Comandos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13			   # Armazena na memória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3			    # Armazena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print(x, ‘+’, y, ‘=‘, x + y)   # Mostra na tela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print(x, ‘-’, y, ‘=‘, x - y)     # Mostra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Saída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+ 3 = 16		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13 - 3 = 10		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C726DC3F-3A02-40CC-A602-82AD775B7CC0}"/>
              </a:ext>
            </a:extLst>
          </p:cNvPr>
          <p:cNvSpPr/>
          <p:nvPr/>
        </p:nvSpPr>
        <p:spPr>
          <a:xfrm>
            <a:off x="2388357" y="3977416"/>
            <a:ext cx="162018" cy="3423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/>
          </a:p>
        </p:txBody>
      </p:sp>
    </p:spTree>
    <p:extLst>
      <p:ext uri="{BB962C8B-B14F-4D97-AF65-F5344CB8AC3E}">
        <p14:creationId xmlns:p14="http://schemas.microsoft.com/office/powerpoint/2010/main" val="59850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254403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Divisão de números inteiros (quociente e resto)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1081138" y="975998"/>
            <a:ext cx="7450121" cy="588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10000"/>
          </a:bodyPr>
          <a:lstStyle/>
          <a:p>
            <a:pPr indent="-342900">
              <a:lnSpc>
                <a:spcPct val="17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Comandos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13			   # Armazena na memória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3			    # Armazena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print(x, ‘//’, y, ‘=‘, x // y)   # Mostra na tela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print(x, ‘%’, y, ‘=‘, x % y) # Mostra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Saída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// 3 = 4		(quociente da divisão)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13 % 3 = 1		(resto da divisão)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C726DC3F-3A02-40CC-A602-82AD775B7CC0}"/>
              </a:ext>
            </a:extLst>
          </p:cNvPr>
          <p:cNvSpPr/>
          <p:nvPr/>
        </p:nvSpPr>
        <p:spPr>
          <a:xfrm>
            <a:off x="2388357" y="3977416"/>
            <a:ext cx="162018" cy="3423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/>
          </a:p>
        </p:txBody>
      </p:sp>
    </p:spTree>
    <p:extLst>
      <p:ext uri="{BB962C8B-B14F-4D97-AF65-F5344CB8AC3E}">
        <p14:creationId xmlns:p14="http://schemas.microsoft.com/office/powerpoint/2010/main" val="326531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411480" y="121958"/>
            <a:ext cx="73914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Exercício: 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o programa abaixo e calcule, com o auxilio de lápis e papel, quais resultados serão impressos. 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Depois execute o programa no IDE e verifique se você acertou.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1730460"/>
            <a:ext cx="7886700" cy="473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45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14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x // y			- Respostas dos prints: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print(z)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				     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y % z				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				    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10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print(z)				     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8897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556711" y="452918"/>
            <a:ext cx="8132781" cy="561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pt-B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Erros comuns:</a:t>
            </a:r>
          </a:p>
          <a:p>
            <a:pPr lvl="0" algn="just">
              <a:lnSpc>
                <a:spcPct val="115000"/>
              </a:lnSpc>
            </a:pPr>
            <a:endParaRPr lang="pt-BR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pt-B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Achar que no final "z" vale 0: </a:t>
            </a:r>
            <a:br>
              <a:rPr lang="pt-B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final porque "y" passou a valer 10 e 10 % 2 é igual a 0. Isso não acontece porque os comandos são executados em sequência e quando o valor de "z" foi atualizado pela última vez, "y" ainda valia 14. Mesmo que "y" seja alterado depois disso, o valor de "z" permanece sendo o que era em sua última atribuição.</a:t>
            </a:r>
          </a:p>
          <a:p>
            <a:pPr marL="257175" indent="-257175" algn="just">
              <a:lnSpc>
                <a:spcPct val="115000"/>
              </a:lnSpc>
              <a:spcAft>
                <a:spcPts val="750"/>
              </a:spcAft>
              <a:buFont typeface="Symbol" panose="05050102010706020507" pitchFamily="18" charset="2"/>
              <a:buChar char=""/>
            </a:pPr>
            <a:endParaRPr lang="pt-BR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 algn="just">
              <a:lnSpc>
                <a:spcPct val="115000"/>
              </a:lnSpc>
              <a:spcAft>
                <a:spcPts val="750"/>
              </a:spcAft>
              <a:buFont typeface="Symbol" panose="05050102010706020507" pitchFamily="18" charset="2"/>
              <a:buChar char=""/>
            </a:pPr>
            <a:r>
              <a:rPr lang="pt-B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Achar que o programa vai imprimir 3, 2 e 10, que são os últimos valores calculados antes do comando "print". Isso não acontece porque o comando "print" imprime a variável que é passada como argumento, e não o valor da última variável atualizada no programa.</a:t>
            </a:r>
          </a:p>
          <a:p>
            <a:pPr marL="0" indent="0">
              <a:spcBef>
                <a:spcPts val="0"/>
              </a:spcBef>
              <a:buSzPts val="24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57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91787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Formatação de saída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667117"/>
            <a:ext cx="7886700" cy="609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Atribuição de valor a variável: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14			# Armazena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3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print(x, ‘//’, y, ‘=‘, x//y)	# Mostra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Saída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// 3 = 4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print(f"{x} // {y} = {x//y}")		 # Solução 1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Saída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// 3 = 4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print(‘{} // {} = {}’.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y, x//y)) 	# Solução 2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Saída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// 3 = 4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E494AD1D-746B-4DFA-B2B5-302FF8D6129D}"/>
              </a:ext>
            </a:extLst>
          </p:cNvPr>
          <p:cNvSpPr/>
          <p:nvPr/>
        </p:nvSpPr>
        <p:spPr>
          <a:xfrm>
            <a:off x="2480425" y="3051175"/>
            <a:ext cx="1183330" cy="3778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melhor</a:t>
            </a:r>
          </a:p>
        </p:txBody>
      </p:sp>
    </p:spTree>
    <p:extLst>
      <p:ext uri="{BB962C8B-B14F-4D97-AF65-F5344CB8AC3E}">
        <p14:creationId xmlns:p14="http://schemas.microsoft.com/office/powerpoint/2010/main" val="27518742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2" y="91794"/>
            <a:ext cx="7011969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pt-BR" sz="1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Exercício 3-3: Transforme os comandos abaixo para a notação que usa a mensagem “</a:t>
            </a:r>
            <a:r>
              <a:rPr lang="pt-BR" sz="135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</a:t>
            </a:r>
            <a:r>
              <a:rPr lang="pt-BR" sz="1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”. Lembre-se que argumentos separados por vírgula adicionam um espaço entre eles na impressão</a:t>
            </a:r>
            <a:endParaRPr sz="13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518384" y="653451"/>
            <a:ext cx="7886700" cy="621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print(x, ’e’, y , ‘são’, a, ‘e’, b)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print(“Total:”, </a:t>
            </a:r>
            <a:r>
              <a:rPr lang="pt-BR" sz="2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x+y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print(a, b, c, ‘são números inteiros’)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print(z, ‘+0 =‘, z)</a:t>
            </a:r>
          </a:p>
          <a:p>
            <a:r>
              <a:rPr lang="pt-BR" sz="2000" dirty="0">
                <a:solidFill>
                  <a:srgbClr val="20212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 = 10</a:t>
            </a:r>
          </a:p>
          <a:p>
            <a:r>
              <a:rPr lang="pt-BR" sz="2000" dirty="0">
                <a:solidFill>
                  <a:srgbClr val="20212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y = 20</a:t>
            </a:r>
          </a:p>
          <a:p>
            <a:r>
              <a:rPr lang="pt-BR" sz="2000" dirty="0">
                <a:solidFill>
                  <a:srgbClr val="20212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= 30</a:t>
            </a:r>
          </a:p>
          <a:p>
            <a:r>
              <a:rPr lang="pt-BR" sz="2000" dirty="0">
                <a:solidFill>
                  <a:srgbClr val="20212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 = 40</a:t>
            </a:r>
          </a:p>
          <a:p>
            <a:r>
              <a:rPr lang="pt-BR" sz="2000" dirty="0">
                <a:solidFill>
                  <a:srgbClr val="20212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 = 50</a:t>
            </a:r>
          </a:p>
          <a:p>
            <a:r>
              <a:rPr lang="pt-BR" sz="2000" dirty="0">
                <a:solidFill>
                  <a:srgbClr val="20212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print("{0} e {1} são {2} e {3}“ .</a:t>
            </a:r>
            <a:r>
              <a:rPr lang="pt-BR" sz="2000" dirty="0" err="1">
                <a:solidFill>
                  <a:srgbClr val="20212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format</a:t>
            </a:r>
            <a:r>
              <a:rPr lang="pt-BR" sz="2000" dirty="0">
                <a:solidFill>
                  <a:srgbClr val="20212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(x, y, a, b))</a:t>
            </a:r>
          </a:p>
          <a:p>
            <a:r>
              <a:rPr lang="fr-F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print("Total: {0}".format(x + y))</a:t>
            </a:r>
            <a:endParaRPr lang="pt-BR" sz="2000" dirty="0">
              <a:solidFill>
                <a:srgbClr val="20212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print("{0} {1} {2} são números inteiros".</a:t>
            </a:r>
            <a:r>
              <a:rPr lang="pt-BR" sz="2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format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(a, b, c))</a:t>
            </a:r>
          </a:p>
          <a:p>
            <a:r>
              <a:rPr lang="pl-PL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print("{0} + 0 = {1}".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l-PL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format(z, z))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ou  </a:t>
            </a:r>
            <a:r>
              <a:rPr lang="pl-PL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print("{0} + 0 = {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</a:t>
            </a:r>
            <a:r>
              <a:rPr lang="pl-PL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}".format(z))</a:t>
            </a:r>
            <a:endParaRPr lang="pt-BR" sz="2000" dirty="0">
              <a:solidFill>
                <a:srgbClr val="20212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20212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Outro formato:</a:t>
            </a:r>
          </a:p>
          <a:p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</a:t>
            </a:r>
            <a:r>
              <a:rPr lang="pt-BR" sz="2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f'Total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{</a:t>
            </a:r>
            <a:r>
              <a:rPr lang="pt-BR" sz="2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x+y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}’)</a:t>
            </a:r>
          </a:p>
          <a:p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print(f'{a}, {b}, {c} são números inteiros')</a:t>
            </a:r>
          </a:p>
          <a:p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print(f"{z} + 0 = {z}")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132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2" y="593768"/>
            <a:ext cx="7176742" cy="1555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pt-BR" sz="1800" dirty="0"/>
              <a:t>Exercício 3-4: Considere que as variáveis “dia”, “mês” e “ano” contém os valores respectivos de  uma certa data. Escreva um comando “print” usando a mensagem “</a:t>
            </a:r>
            <a:r>
              <a:rPr lang="pt-BR" sz="1800" dirty="0" err="1"/>
              <a:t>format</a:t>
            </a:r>
            <a:r>
              <a:rPr lang="pt-BR" sz="1800" dirty="0"/>
              <a:t>” que imprima essa data no formato </a:t>
            </a:r>
            <a:r>
              <a:rPr lang="pt-BR" sz="1800" dirty="0" err="1"/>
              <a:t>usual,´por</a:t>
            </a:r>
            <a:r>
              <a:rPr lang="pt-BR" sz="1800" dirty="0"/>
              <a:t> exemplo, “12/11/2016” ou “3/7/2011”.</a:t>
            </a:r>
            <a:endParaRPr sz="1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D09A2B-72A0-49AC-BD72-D723F4DE5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54" y="2780865"/>
            <a:ext cx="7672892" cy="129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7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143632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 de dados pelo teclado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97424" y="1032423"/>
            <a:ext cx="7886700" cy="543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Faça um programa que permite que o usuário digite 2 números “x” e “y” e então visualize o resultado da divisão inteira (quociente) e resto entre “x” e “y”. 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função “input” na expressão x = input()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Atribui à variável “x” o valor que for digitado pelo usuário do programa quando ele estiver executando.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input()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input()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print(‘Quociente =‘, x // y)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print(‘Resto =‘, x % y)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95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97423" y="762236"/>
            <a:ext cx="8029717" cy="609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10000"/>
          </a:bodyPr>
          <a:lstStyle/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Quando executar o programa, provavelmente não verá nada na tela.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Porque a primeira instrução do programa está aguardando você digitar um número. </a:t>
            </a: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você, sendo usuário do programa, vai saber que precisa digitar um número? </a:t>
            </a: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 interessante que o computador imprimisse uma mensagem solicitando o valor. 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Felizmente, a operação “input” já possui essa característica. 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exemplo: x = input('Qual o valor de x? ’) </a:t>
            </a: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programa mostra na tela “Qual o valor de x?” e ficará aguardando sua resposta. </a:t>
            </a: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Edite o programa: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input(“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 o valor de x?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input(“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 o valor de y?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Quociente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=‘, x // y)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(‘Resto =‘, x % y)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3879C29A-09BA-44FD-A2E0-747296EED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43632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 de dados pelo teclado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757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97424" y="1031177"/>
            <a:ext cx="7886700" cy="485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0" indent="0">
              <a:spcBef>
                <a:spcPts val="0"/>
              </a:spcBef>
              <a:buSzPts val="2400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input(“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 o valor de x?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input(“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 o valor de y?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Quociente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=‘, x // y)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(‘Resto =‘, x % y)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 um erro. Algo como: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unsupported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type(s) for -: ‘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and ‘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”. 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Isso aconteceu porque no Python, o comando “input” retorna sempre um texto, ou seja, uma sequência de caracteres, a qual não é, portanto, um tipo numérico. </a:t>
            </a: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3F10E238-9715-4BE1-9689-A3ED06E5D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43632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 de dados pelo teclado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35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97424" y="916293"/>
            <a:ext cx="7886700" cy="529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  <a:buSzPts val="2400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input(“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 o valor de x?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input(“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 o valor de y?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Quociente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=‘, x // y)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(‘Resto =‘, x % y)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função “int” recebe um argumento, que nesse caso é um valor do tipo “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e retorna um número inteiro no lugar dela, caso ela possa ser convertida em número, para que fique bem claro. </a:t>
            </a: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o valor não puder ser convertido em número inteiro, o interpretador acusará um erro no programa.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Acrescente o int antes do input: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int(input())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int(input())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print(‘Quociente =‘, x // y)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print(‘Resto =‘, x % y)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E0FA1EA1-99B3-4FA0-B4A8-9B1BD52977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43632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 de dados pelo teclado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52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1032060" y="1134737"/>
            <a:ext cx="7412691" cy="1877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int(input(‘Qual o valor de x? ’)) # Entrada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int(input(‘Qual o valor de y? ’)) # Entrada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print(‘Divisão =‘, x // y)	          # Cálculo e tela	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print(‘Resto =‘, x % y)	          # Cálculo e tela</a:t>
            </a:r>
          </a:p>
          <a:p>
            <a:pPr marL="0" indent="0">
              <a:spcBef>
                <a:spcPts val="0"/>
              </a:spcBef>
              <a:buSzPts val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D70949-CFEF-4CFE-9742-CEF6F6B55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20" y="3160061"/>
            <a:ext cx="6490081" cy="2563202"/>
          </a:xfrm>
          <a:prstGeom prst="rect">
            <a:avLst/>
          </a:prstGeom>
        </p:spPr>
      </p:pic>
      <p:sp>
        <p:nvSpPr>
          <p:cNvPr id="8" name="Google Shape;96;p3">
            <a:extLst>
              <a:ext uri="{FF2B5EF4-FFF2-40B4-BE49-F238E27FC236}">
                <a16:creationId xmlns:a16="http://schemas.microsoft.com/office/drawing/2014/main" id="{2AE49D41-EC2E-4236-BE20-EDBE621A5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43632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 de dados pelo teclado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93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>
            <a:extLst>
              <a:ext uri="{FF2B5EF4-FFF2-40B4-BE49-F238E27FC236}">
                <a16:creationId xmlns:a16="http://schemas.microsoft.com/office/drawing/2014/main" id="{FF1DF28B-2733-4C94-9875-C96686000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564" y="908720"/>
            <a:ext cx="7772400" cy="5949280"/>
          </a:xfrm>
        </p:spPr>
        <p:txBody>
          <a:bodyPr>
            <a:normAutofit fontScale="92500" lnSpcReduction="10000"/>
          </a:bodyPr>
          <a:lstStyle/>
          <a:p>
            <a:pPr marL="431800" indent="-342900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Bibliografia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8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WAZLAWICK, Raul Sidnei. Introdução a algoritmos e programação com Python: uma abordagem dirigida por testes. Rio de Janeiro: Elsevier, 2018.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MINHA BIBLIOTECA</a:t>
            </a:r>
          </a:p>
          <a:p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alt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.: 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livro consta da biblioteca digital do CEUB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plataforma MINHA BIBLIOTECA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Acesse pelo Espaço Aluno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do capítulo 3 do livro</a:t>
            </a:r>
          </a:p>
          <a:p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2A705DE-535A-461A-BCF4-5A89627FD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64011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pt-BR" altLang="pt-BR" sz="2800" b="1" dirty="0"/>
              <a:t>Referências</a:t>
            </a:r>
            <a:endParaRPr lang="pt-BR" altLang="pt-BR" sz="2800" dirty="0"/>
          </a:p>
        </p:txBody>
      </p:sp>
      <p:pic>
        <p:nvPicPr>
          <p:cNvPr id="4" name="Imagem 3" descr="Introdução a Algoritmos e Programação com Python: Uma Abordagem Dirigida por Testes">
            <a:extLst>
              <a:ext uri="{FF2B5EF4-FFF2-40B4-BE49-F238E27FC236}">
                <a16:creationId xmlns:a16="http://schemas.microsoft.com/office/drawing/2014/main" id="{AB4BECD8-9083-468B-955E-69F2D1C9EB3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742" y="2410669"/>
            <a:ext cx="2232248" cy="2448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4440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18212</TotalTime>
  <Words>1366</Words>
  <Application>Microsoft Office PowerPoint</Application>
  <PresentationFormat>Apresentação na tela (4:3)</PresentationFormat>
  <Paragraphs>476</Paragraphs>
  <Slides>35</Slides>
  <Notes>33</Notes>
  <HiddenSlides>2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2" baseType="lpstr">
      <vt:lpstr>Arial</vt:lpstr>
      <vt:lpstr>Symbol</vt:lpstr>
      <vt:lpstr>Wingdings</vt:lpstr>
      <vt:lpstr>Tahoma</vt:lpstr>
      <vt:lpstr>Times New Roman</vt:lpstr>
      <vt:lpstr>Calibri</vt:lpstr>
      <vt:lpstr>Tema do Office</vt:lpstr>
      <vt:lpstr>Apresentação do PowerPoint</vt:lpstr>
      <vt:lpstr>Apresentação do PowerPoint</vt:lpstr>
      <vt:lpstr>Cap. 3 - Próximos tópicos:</vt:lpstr>
      <vt:lpstr>Significado de uma variável</vt:lpstr>
      <vt:lpstr>Significado de uma variável</vt:lpstr>
      <vt:lpstr>Cálculo com variáveis</vt:lpstr>
      <vt:lpstr>Cálculo com variáveis</vt:lpstr>
      <vt:lpstr>Comando de atribuição</vt:lpstr>
      <vt:lpstr>Identificador (variável) – Regras para nomear</vt:lpstr>
      <vt:lpstr>Identificador (variável) – Regras para nomear</vt:lpstr>
      <vt:lpstr>Identificador (variável) – Regras para nomear</vt:lpstr>
      <vt:lpstr>Identificador (variável) – snake_case</vt:lpstr>
      <vt:lpstr>Identificador (variável) – Regras para nomear</vt:lpstr>
      <vt:lpstr>Identificador (variável) – Regras para nomear</vt:lpstr>
      <vt:lpstr>Identificador (variável) – Regras para nomear</vt:lpstr>
      <vt:lpstr>Tipos de valores numéricos</vt:lpstr>
      <vt:lpstr>Principais Tipos de dados</vt:lpstr>
      <vt:lpstr>Exercícios</vt:lpstr>
      <vt:lpstr>Exercícios</vt:lpstr>
      <vt:lpstr>Verificando o tipo armazenado em uma variável</vt:lpstr>
      <vt:lpstr>Operador aritmético</vt:lpstr>
      <vt:lpstr>X é divisível por y?</vt:lpstr>
      <vt:lpstr>print com várias partes</vt:lpstr>
      <vt:lpstr>Divisão de números inteiros (quociente e resto)</vt:lpstr>
      <vt:lpstr>Exercício:  Observe o programa abaixo e calcule, com o auxilio de lápis e papel, quais resultados serão impressos.  Depois execute o programa no IDE e verifique se você acertou. </vt:lpstr>
      <vt:lpstr>Apresentação do PowerPoint</vt:lpstr>
      <vt:lpstr>Formatação de saída</vt:lpstr>
      <vt:lpstr>Exercício 3-3: Transforme os comandos abaixo para a notação que usa a mensagem “format”. Lembre-se que argumentos separados por vírgula adicionam um espaço entre eles na impressão</vt:lpstr>
      <vt:lpstr>Exercício 3-4: Considere que as variáveis “dia”, “mês” e “ano” contém os valores respectivos de  uma certa data. Escreva um comando “print” usando a mensagem “format” que imprima essa data no formato usual,´por exemplo, “12/11/2016” ou “3/7/2011”.</vt:lpstr>
      <vt:lpstr>Entrada de dados pelo teclado</vt:lpstr>
      <vt:lpstr>Entrada de dados pelo teclado</vt:lpstr>
      <vt:lpstr>Entrada de dados pelo teclado</vt:lpstr>
      <vt:lpstr>Entrada de dados pelo teclado</vt:lpstr>
      <vt:lpstr>Entrada de dados pelo teclado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Henrique Paganotti Perez</dc:creator>
  <cp:lastModifiedBy>Admin</cp:lastModifiedBy>
  <cp:revision>212</cp:revision>
  <dcterms:created xsi:type="dcterms:W3CDTF">2020-12-15T14:04:25Z</dcterms:created>
  <dcterms:modified xsi:type="dcterms:W3CDTF">2026-02-26T19:09:36Z</dcterms:modified>
</cp:coreProperties>
</file>